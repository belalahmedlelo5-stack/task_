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C7461-2EE5-451A-9894-4A552D8FC05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A47F4-82C0-43AF-99DA-83EE2A444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5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A47F4-82C0-43AF-99DA-83EE2A444B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3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9583-5D2E-EFEB-D032-A2C561BBC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7985B-1F28-9108-AE0B-B13AE7387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2D83-69A3-3C28-12F7-380357F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E8DB-21A0-33EA-2300-9F6FB175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CADB6-BDF6-BA50-1D2A-66F64E63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7E35-9BC0-BDC5-81BA-AF7654A9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0C314-6966-F1CB-DE5C-74FCE0067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D327-852E-1BE2-12BA-A842FF92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C2C02-6121-96B9-E82E-11BDFE8B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8BB2F-2AF7-9482-6D91-C9880C55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0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809A-7A81-B8F1-3400-7E87CEE6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9A943-524C-DAFA-591C-77D8121DF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F1A6-50E7-DECA-A1DA-7057F484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8187-A64D-919D-D5A5-612BD7C4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BDFA-B3F7-408F-6F67-94739D71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8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EC27-07F5-4BE8-C887-5A81A3E1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A6E6-95BE-0630-2F2B-761F04A7B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8DA4F-7C82-B5E7-473F-76F5B1354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7C380-877A-F642-2198-5BF59F3D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1863F-0CF3-EB04-1B87-6B585474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27AE2-9762-2A1F-B390-75617A28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0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9E65-F5E2-0EB8-2784-124DDA58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647BE-AA7B-60B8-D116-BAB56FF5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9012B-D45C-71C3-6387-7632F6A71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BBF5B-0E1D-1F28-7892-87A716611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7B44B-7BA9-E8FD-6E79-BC242709E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756D6-7116-CD6C-6CEC-E31D07F2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E217D-844E-CA12-5850-9F133DDA0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179FF-5FD8-EB4F-C7E1-473EB015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6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21B1-7AD6-D6D8-ABFF-91E1B9D2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D512E-AD17-1DED-CEE1-894AEA53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47DF2-6FE9-C649-53A2-88DA7551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66251-27A6-EDF5-1D93-1CB375B6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097E8-1104-56B9-42F7-BCE28A8C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0D295-E732-82F8-C2A5-E670506E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40E4-8543-2BE1-4632-B50F2C35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9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AAC3-9CEC-E4A0-D50E-E9E64F2B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A5F6A-2D4D-6D2C-4BE2-47DBFA74E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CDA30-6014-C544-E07C-4228F434B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B494E-7B94-C26E-CA2D-20485594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366C4-FB90-E814-98CD-1EFE55CF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36878-8CE1-0066-EA03-9A159C4B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9A45-1BE1-002B-E61C-6A5994ED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977C9-F253-2938-546A-5E999FD76A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FDFCA-9439-7513-E5C1-712B8C569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C965-CE9E-BAA3-373E-75082498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CD156-BC59-CB8E-E383-807EE9DB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F8811-F04F-858F-7C61-B0B31F5B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6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B11C-5281-7D8B-7627-062E408F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95AE5-F430-A697-0EBF-8EB6B16C4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B2F95-61A0-6EF4-DE8C-DC1A3470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79357-8551-58B6-BDEB-3D793696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FBAD-F41B-5573-93D3-5A137B3A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7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85996-5225-29F5-6D39-683EC7190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D178C-4CC0-879C-30C2-CB462511D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A9B7C-FB30-D950-7011-422252B1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C620A-8821-6E2F-311D-F260685E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0C29-09B8-920F-2D64-319E39E4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1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D5AEB-E69F-321E-E3DF-A86129DC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C587F-8E2B-9959-A5DE-869D3A879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FA7F8-CA23-B1E2-5A5A-031804583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0149F-1FF7-42E5-BD06-AACBCB4A8FE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BADA2-2399-999E-EF84-359B579CB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5A514-30BD-D97F-A26F-23106C243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3D41D-4A8F-4837-A674-BD64A871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9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ssorted pills and capsules">
            <a:extLst>
              <a:ext uri="{FF2B5EF4-FFF2-40B4-BE49-F238E27FC236}">
                <a16:creationId xmlns:a16="http://schemas.microsoft.com/office/drawing/2014/main" id="{3CFEA02C-1EFF-EEF9-D148-3E67632DC0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55" r="35486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90121-EF37-7247-3CCF-DE0D02A8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Adverse Drug Reactions (ADRs)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2696-057B-91A2-6AAC-B77DEDCDA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684" y="1964986"/>
            <a:ext cx="5285973" cy="4275092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An Adverse Drug Reaction (ADR) is a harmful and unintended response to a medicine.</a:t>
            </a:r>
          </a:p>
          <a:p>
            <a:pPr lvl="0"/>
            <a:r>
              <a:rPr lang="en-US" sz="2400" dirty="0"/>
              <a:t>ADRs can occur when a medicine is used at normal doses for prevention, diagnosis, or treatment.</a:t>
            </a:r>
          </a:p>
          <a:p>
            <a:pPr lvl="0"/>
            <a:r>
              <a:rPr lang="en-US" sz="2400" dirty="0"/>
              <a:t>They may range from mild symptoms to serious, life-threatening conditions.</a:t>
            </a:r>
          </a:p>
          <a:p>
            <a:r>
              <a:rPr lang="en-US" sz="2400" dirty="0"/>
              <a:t>ADR monitoring is essential for patient safety and effective treatment.</a:t>
            </a:r>
          </a:p>
        </p:txBody>
      </p:sp>
    </p:spTree>
    <p:extLst>
      <p:ext uri="{BB962C8B-B14F-4D97-AF65-F5344CB8AC3E}">
        <p14:creationId xmlns:p14="http://schemas.microsoft.com/office/powerpoint/2010/main" val="373004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3B1FBD85-8991-2A31-6956-1A07186D5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13367" y="-2"/>
            <a:ext cx="1078633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252BC7B-4F7B-6E34-71DB-D06EFE32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56" y="0"/>
            <a:ext cx="11423904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F97F52-C578-5AB2-B699-50008FCB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680" y="0"/>
            <a:ext cx="11427028" cy="2284810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F7BCB-56F0-AB77-2100-FB9B808F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429490"/>
            <a:ext cx="9589765" cy="1432273"/>
          </a:xfrm>
        </p:spPr>
        <p:txBody>
          <a:bodyPr>
            <a:normAutofit/>
          </a:bodyPr>
          <a:lstStyle/>
          <a:p>
            <a:r>
              <a:rPr lang="en-US" sz="4800"/>
              <a:t>Classification of ADRs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8DCF-8AE9-13A5-C582-1E166CA9C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861763"/>
            <a:ext cx="9862292" cy="4400890"/>
          </a:xfrm>
        </p:spPr>
        <p:txBody>
          <a:bodyPr anchor="ctr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Type A (Augmented): </a:t>
            </a:r>
            <a:r>
              <a:rPr lang="en-US" sz="2000" dirty="0"/>
              <a:t>Dose-related and predictable.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Type B (Bizarre): </a:t>
            </a:r>
            <a:r>
              <a:rPr lang="en-US" sz="2000" dirty="0"/>
              <a:t>Unpredictable and not clearly dose-related.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Type C (Chronic): </a:t>
            </a:r>
            <a:r>
              <a:rPr lang="en-US" sz="2000" dirty="0"/>
              <a:t>Associated with long-term use.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Type D (Delayed): </a:t>
            </a:r>
            <a:r>
              <a:rPr lang="en-US" sz="2000" dirty="0"/>
              <a:t>Occur after a period of time.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Type E (End-of-use): </a:t>
            </a:r>
            <a:r>
              <a:rPr lang="en-US" sz="2000" dirty="0"/>
              <a:t>Associated with drug withdrawal.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Type F (Failure): </a:t>
            </a:r>
            <a:r>
              <a:rPr lang="en-US" sz="2000" dirty="0"/>
              <a:t>Unexpected failure of </a:t>
            </a:r>
            <a:r>
              <a:rPr lang="en-US" sz="2000" dirty="0" err="1"/>
              <a:t>treatmen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591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FA0CB-AFF5-0E04-32FC-FAA2626B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Examples of Common ADRs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CB54A-CBCA-D271-106B-C133B267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1. Insulin — Hypoglycemia</a:t>
            </a:r>
          </a:p>
          <a:p>
            <a:r>
              <a:rPr lang="en-US" sz="2200"/>
              <a:t>Insulin can lower blood glucose excessively, especially if the dose is too high relative to food intake or activity.</a:t>
            </a:r>
          </a:p>
          <a:p>
            <a:pPr marL="0" indent="0">
              <a:buNone/>
            </a:pPr>
            <a:r>
              <a:rPr lang="en-US" sz="2200" b="1"/>
              <a:t>2. Penicillin antibiotics — Allergic reactions</a:t>
            </a:r>
          </a:p>
          <a:p>
            <a:r>
              <a:rPr lang="en-US" sz="2200"/>
              <a:t>They may cause skin rashes or, rarely, severe anaphylaxis.</a:t>
            </a:r>
          </a:p>
          <a:p>
            <a:pPr marL="0" indent="0">
              <a:buNone/>
            </a:pPr>
            <a:r>
              <a:rPr lang="en-US" sz="2200" b="1"/>
              <a:t>3. NSAIDs — Gastrointestinal and kidney effects</a:t>
            </a:r>
          </a:p>
          <a:p>
            <a:r>
              <a:rPr lang="en-US" sz="2200"/>
              <a:t>Medicines such as ibuprofen may cause gastrointestinal bleeding and kidney injury, particularly in susceptible patients.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6403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yzing medical x-ray results">
            <a:extLst>
              <a:ext uri="{FF2B5EF4-FFF2-40B4-BE49-F238E27FC236}">
                <a16:creationId xmlns:a16="http://schemas.microsoft.com/office/drawing/2014/main" id="{885172E5-1F31-17EE-6C07-A12344CA1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661851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7F6FE-4CD8-9717-892E-47E315C3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972" y="365125"/>
            <a:ext cx="5998028" cy="1899912"/>
          </a:xfrm>
        </p:spPr>
        <p:txBody>
          <a:bodyPr>
            <a:normAutofit/>
          </a:bodyPr>
          <a:lstStyle/>
          <a:p>
            <a:r>
              <a:rPr lang="en-US" sz="3200" dirty="0"/>
              <a:t>Detection and Monitoring of ADRs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0A4B-E4CB-EC93-8023-DA2B648A0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8514" y="2434201"/>
            <a:ext cx="4735285" cy="374276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400" b="1" dirty="0"/>
              <a:t>1-Patient interviews: </a:t>
            </a:r>
            <a:r>
              <a:rPr lang="en-US" sz="2400" dirty="0"/>
              <a:t>Asking about new symptoms after starting a medicine.</a:t>
            </a:r>
          </a:p>
          <a:p>
            <a:pPr marL="0" lvl="0" indent="0">
              <a:buNone/>
            </a:pPr>
            <a:r>
              <a:rPr lang="en-US" sz="2400" b="1" dirty="0"/>
              <a:t>2-Clinical assessment</a:t>
            </a:r>
            <a:r>
              <a:rPr lang="en-US" sz="2400" dirty="0"/>
              <a:t>: Evaluating symptoms and their relationship to drug exposure.</a:t>
            </a:r>
          </a:p>
          <a:p>
            <a:pPr marL="0" lvl="0" indent="0">
              <a:buNone/>
            </a:pPr>
            <a:r>
              <a:rPr lang="en-US" sz="2400" b="1" dirty="0"/>
              <a:t>3-Laboratory tests: </a:t>
            </a:r>
            <a:r>
              <a:rPr lang="en-US" sz="2400" dirty="0"/>
              <a:t>Monitoring liver enzymes, kidney function, and blood counts when indicated.</a:t>
            </a:r>
          </a:p>
          <a:p>
            <a:pPr marL="0" lvl="0" indent="0">
              <a:buNone/>
            </a:pPr>
            <a:r>
              <a:rPr lang="en-US" sz="2400" b="1" dirty="0"/>
              <a:t>4-Medication review: </a:t>
            </a:r>
            <a:r>
              <a:rPr lang="en-US" sz="2400" dirty="0"/>
              <a:t>Checking doses, drug interactions, and the patient's medication history.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26013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4FC44-5750-E083-8719-A72D1B06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 sz="3400"/>
              <a:t>Prevention and Management of ADRs</a:t>
            </a:r>
          </a:p>
        </p:txBody>
      </p:sp>
      <p:pic>
        <p:nvPicPr>
          <p:cNvPr id="5" name="Picture 4" descr="Close-up unopened pill packets">
            <a:extLst>
              <a:ext uri="{FF2B5EF4-FFF2-40B4-BE49-F238E27FC236}">
                <a16:creationId xmlns:a16="http://schemas.microsoft.com/office/drawing/2014/main" id="{71A7330E-1047-916D-0D69-4A9FFC15E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41" r="13889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857B-0E01-F6A9-76F4-EE3509CE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/>
              <a:t>1-Prescribe the correct drug and appropriate dose.</a:t>
            </a:r>
          </a:p>
          <a:p>
            <a:pPr marL="0" lvl="0" indent="0">
              <a:buNone/>
            </a:pPr>
            <a:r>
              <a:rPr lang="en-US" sz="2000"/>
              <a:t>2-Review allergies and medical history.</a:t>
            </a:r>
          </a:p>
          <a:p>
            <a:pPr marL="0" lvl="0" indent="0">
              <a:buNone/>
            </a:pPr>
            <a:r>
              <a:rPr lang="en-US" sz="2000"/>
              <a:t>3-Check for potential drug interactions.</a:t>
            </a:r>
          </a:p>
          <a:p>
            <a:pPr marL="0" lvl="0" indent="0">
              <a:buNone/>
            </a:pPr>
            <a:r>
              <a:rPr lang="en-US" sz="2000"/>
              <a:t>4-Monitor high-risk patients regularly.</a:t>
            </a:r>
          </a:p>
          <a:p>
            <a:pPr marL="0" lvl="0" indent="0">
              <a:buNone/>
            </a:pPr>
            <a:r>
              <a:rPr lang="en-US" sz="2000"/>
              <a:t>5-Educate patients about warning signs and correct medicine use.</a:t>
            </a:r>
          </a:p>
        </p:txBody>
      </p:sp>
    </p:spTree>
    <p:extLst>
      <p:ext uri="{BB962C8B-B14F-4D97-AF65-F5344CB8AC3E}">
        <p14:creationId xmlns:p14="http://schemas.microsoft.com/office/powerpoint/2010/main" val="313172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57A2-7D6C-8D7A-57ED-461D76C2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Drug–Drug Interactions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2485-514E-E2DB-557B-519A98FE6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Drug–drug interaction occurs when one medicine affects the action of another medicine.</a:t>
            </a:r>
          </a:p>
          <a:p>
            <a:pPr lvl="0"/>
            <a:r>
              <a:rPr lang="en-US" sz="2400" dirty="0"/>
              <a:t>It may increase or decrease the effect of a drug.</a:t>
            </a:r>
          </a:p>
          <a:p>
            <a:pPr lvl="0"/>
            <a:r>
              <a:rPr lang="en-US" sz="2400" dirty="0"/>
              <a:t>It can cause side effects or reduce treatment effectiveness.</a:t>
            </a:r>
            <a:endParaRPr lang="ar-EG" sz="2400" dirty="0"/>
          </a:p>
          <a:p>
            <a:pPr lvl="0"/>
            <a:r>
              <a:rPr lang="en-US" sz="2400" dirty="0"/>
              <a:t>Some interactions are harmless, while others can be dangerous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FEA5A-EB81-3CB6-5817-76BBEF3B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57" r="31693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7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31A0-F587-94AD-67C9-E6240D55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>
            <a:normAutofit/>
          </a:bodyPr>
          <a:lstStyle/>
          <a:p>
            <a:r>
              <a:rPr lang="en-US" sz="3200"/>
              <a:t>Types of Drug Interactions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1D4C8-E189-CC0F-E2B4-DB7A3F213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r>
              <a:rPr lang="en-US" sz="2000" dirty="0"/>
              <a:t>There are three main types</a:t>
            </a:r>
          </a:p>
          <a:p>
            <a:pPr marL="0" indent="0">
              <a:buNone/>
            </a:pPr>
            <a:r>
              <a:rPr lang="en-US" sz="2000" b="1" dirty="0"/>
              <a:t>1-Drug–Drug Interactions</a:t>
            </a:r>
            <a:r>
              <a:rPr lang="en-US" sz="2000" dirty="0"/>
              <a:t>: One medicine affects another medicine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2-Drug–Food Interactions</a:t>
            </a:r>
            <a:r>
              <a:rPr lang="en-US" sz="2000" dirty="0"/>
              <a:t>: Food affects the action of a medicine.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3-Drug–Disease Interactions</a:t>
            </a:r>
            <a:r>
              <a:rPr lang="en-US" sz="2000" dirty="0"/>
              <a:t>: A medicine worsens an existing disease.</a:t>
            </a:r>
            <a:endParaRPr lang="ar-EG" sz="2000" dirty="0"/>
          </a:p>
          <a:p>
            <a:endParaRPr lang="en-US" sz="2000" dirty="0"/>
          </a:p>
        </p:txBody>
      </p:sp>
      <p:pic>
        <p:nvPicPr>
          <p:cNvPr id="5" name="Picture 4" descr="Ingredients in jar">
            <a:extLst>
              <a:ext uri="{FF2B5EF4-FFF2-40B4-BE49-F238E27FC236}">
                <a16:creationId xmlns:a16="http://schemas.microsoft.com/office/drawing/2014/main" id="{DB801A11-5C8A-A163-14D3-4331618D0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34" b="-1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1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32B63-F579-6D7B-AD74-910C2548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Pharmacokinetic Interactions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AA1B3-27B3-478D-1200-2DC6DD2D6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2514" y="640080"/>
            <a:ext cx="7859486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2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ssorted pills and capsules">
            <a:extLst>
              <a:ext uri="{FF2B5EF4-FFF2-40B4-BE49-F238E27FC236}">
                <a16:creationId xmlns:a16="http://schemas.microsoft.com/office/drawing/2014/main" id="{7BB99E0C-CA8D-87B7-6B91-3612EAA8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-1011134" y="-226214"/>
            <a:ext cx="7107134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B51B0-FF77-B02F-FCAB-79830B9866DF}"/>
              </a:ext>
            </a:extLst>
          </p:cNvPr>
          <p:cNvSpPr txBox="1"/>
          <p:nvPr/>
        </p:nvSpPr>
        <p:spPr>
          <a:xfrm>
            <a:off x="6278137" y="228600"/>
            <a:ext cx="5075663" cy="594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Pharmacokinetic interactions occur when one drug changes the amount of another drug in the body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They can affect: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Absorption</a:t>
            </a:r>
            <a:r>
              <a:rPr lang="en-US" sz="2000" dirty="0"/>
              <a:t>: How the drug enters the blood.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Distribution</a:t>
            </a:r>
            <a:r>
              <a:rPr lang="en-US" sz="2000" dirty="0"/>
              <a:t>: How the drug moves through the body.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Metabolism</a:t>
            </a:r>
            <a:r>
              <a:rPr lang="en-US" sz="2000" dirty="0"/>
              <a:t>: How the drug is broken down, mainly in the liver.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Excretion: </a:t>
            </a:r>
            <a:r>
              <a:rPr lang="en-US" sz="2000" dirty="0"/>
              <a:t>How the drug leaves the body, often through the kidneys.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Example: </a:t>
            </a:r>
            <a:r>
              <a:rPr lang="en-US" sz="2000" dirty="0"/>
              <a:t>Some medicines inhibit drug-metabolizing enzymes and increase the concentration of another drug.</a:t>
            </a:r>
          </a:p>
        </p:txBody>
      </p:sp>
    </p:spTree>
    <p:extLst>
      <p:ext uri="{BB962C8B-B14F-4D97-AF65-F5344CB8AC3E}">
        <p14:creationId xmlns:p14="http://schemas.microsoft.com/office/powerpoint/2010/main" val="155366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1155-1457-F55F-C9D6-C4153C69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Pharmacodynamic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BD78-3359-8A3D-2A72-33ED8EEB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Pharmacodynamic interactions occur when two drugs affect the body in similar or opposite ways.</a:t>
            </a:r>
          </a:p>
          <a:p>
            <a:r>
              <a:rPr lang="en-US" b="1" dirty="0"/>
              <a:t>There are two main effects:</a:t>
            </a:r>
          </a:p>
          <a:p>
            <a:pPr lvl="0"/>
            <a:r>
              <a:rPr lang="en-US" b="1" dirty="0"/>
              <a:t>Additive or synergistic effect: </a:t>
            </a:r>
            <a:r>
              <a:rPr lang="en-US" dirty="0"/>
              <a:t>The drugs increase each other's effects.</a:t>
            </a:r>
          </a:p>
          <a:p>
            <a:pPr lvl="0"/>
            <a:r>
              <a:rPr lang="en-US" b="1" dirty="0"/>
              <a:t>Antagonistic effect</a:t>
            </a:r>
            <a:r>
              <a:rPr lang="en-US" dirty="0"/>
              <a:t>: One drug reduces the effect of another.</a:t>
            </a:r>
          </a:p>
          <a:p>
            <a:r>
              <a:rPr lang="en-US" b="1" dirty="0"/>
              <a:t>Example: </a:t>
            </a:r>
            <a:r>
              <a:rPr lang="en-US" dirty="0"/>
              <a:t>Opioids and benzodiazepines can both suppress the central nervous system.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0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E004-0AEA-2681-B05E-D0555BBF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114" y="741391"/>
            <a:ext cx="4849585" cy="782609"/>
          </a:xfrm>
        </p:spPr>
        <p:txBody>
          <a:bodyPr anchor="b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3200" b="1" dirty="0"/>
              <a:t>Common Examples</a:t>
            </a:r>
            <a:endParaRPr lang="en-US" sz="3200" dirty="0"/>
          </a:p>
        </p:txBody>
      </p:sp>
      <p:pic>
        <p:nvPicPr>
          <p:cNvPr id="5" name="Picture 4" descr="Colorful pills stacked to make a bar graph">
            <a:extLst>
              <a:ext uri="{FF2B5EF4-FFF2-40B4-BE49-F238E27FC236}">
                <a16:creationId xmlns:a16="http://schemas.microsoft.com/office/drawing/2014/main" id="{FE563C5C-4A0C-9993-0B3F-0CB382530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73" r="9715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5B07C-6D09-694D-C3C3-395E2EB8D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13" y="1524000"/>
            <a:ext cx="4849585" cy="4457308"/>
          </a:xfrm>
        </p:spPr>
        <p:txBody>
          <a:bodyPr>
            <a:normAutofit/>
          </a:bodyPr>
          <a:lstStyle/>
          <a:p>
            <a:r>
              <a:rPr lang="en-US" sz="2400" b="1" dirty="0"/>
              <a:t>1. Warfarin + Aspirin</a:t>
            </a:r>
          </a:p>
          <a:p>
            <a:r>
              <a:rPr lang="en-US" sz="2400" dirty="0"/>
              <a:t>May increase the risk of bleeding.</a:t>
            </a:r>
          </a:p>
          <a:p>
            <a:r>
              <a:rPr lang="en-US" sz="2400" b="1" dirty="0"/>
              <a:t>2. Simvastatin + Clarithromycin</a:t>
            </a:r>
          </a:p>
          <a:p>
            <a:r>
              <a:rPr lang="en-US" sz="2400" dirty="0"/>
              <a:t>Can increase simvastatin levels and the risk of muscle injury.</a:t>
            </a:r>
          </a:p>
          <a:p>
            <a:r>
              <a:rPr lang="en-US" sz="2400" b="1" dirty="0"/>
              <a:t>3. ACE inhibitors + Potassium supplements</a:t>
            </a:r>
          </a:p>
          <a:p>
            <a:r>
              <a:rPr lang="en-US" sz="2400" dirty="0"/>
              <a:t>May increase potassium levels in the blood</a:t>
            </a:r>
          </a:p>
        </p:txBody>
      </p:sp>
    </p:spTree>
    <p:extLst>
      <p:ext uri="{BB962C8B-B14F-4D97-AF65-F5344CB8AC3E}">
        <p14:creationId xmlns:p14="http://schemas.microsoft.com/office/powerpoint/2010/main" val="373161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ACF46-1D0F-5003-7D11-DA51784D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802955"/>
            <a:ext cx="5509481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Signs and Symptoms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AFAD9254-5521-3D95-6EFE-AE4C21E87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57250-CC2C-3698-EC34-C9A6FB0E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Drug interactions may cause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Dizziness or excessive sleepiness.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Nausea and vomiting.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Unusual bleeding or bruising.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Muscle pain or weakness.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Abnormal heart rhythm.</a:t>
            </a:r>
          </a:p>
          <a:p>
            <a:r>
              <a:rPr lang="en-US" dirty="0">
                <a:solidFill>
                  <a:schemeClr val="tx2"/>
                </a:solidFill>
              </a:rPr>
              <a:t>Reduced therapeutic effect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43779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618</Words>
  <Application>Microsoft Office PowerPoint</Application>
  <PresentationFormat>Widescreen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Adverse Drug Reactions (ADRs)</vt:lpstr>
      <vt:lpstr>Classification of ADRs</vt:lpstr>
      <vt:lpstr>Examples of Common ADRs</vt:lpstr>
      <vt:lpstr>Detection and Monitoring of ADRs</vt:lpstr>
      <vt:lpstr>Prevention and Management of ADRs</vt:lpstr>
      <vt:lpstr>Drug–Drug Interactions</vt:lpstr>
      <vt:lpstr>Types of Drug Interactions</vt:lpstr>
      <vt:lpstr>Pharmacokinetic Interactions</vt:lpstr>
      <vt:lpstr>PowerPoint Presentation</vt:lpstr>
      <vt:lpstr>Pharmacodynamic Interactions</vt:lpstr>
      <vt:lpstr>Common Examples</vt:lpstr>
      <vt:lpstr>Signs and Symptoms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nada ellaban</dc:creator>
  <cp:lastModifiedBy>nada ellaban</cp:lastModifiedBy>
  <cp:revision>1</cp:revision>
  <dcterms:created xsi:type="dcterms:W3CDTF">2026-10-04T16:25:52Z</dcterms:created>
  <dcterms:modified xsi:type="dcterms:W3CDTF">2026-10-04T22:41:25Z</dcterms:modified>
</cp:coreProperties>
</file>