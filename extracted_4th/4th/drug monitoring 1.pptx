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7" r:id="rId2"/>
    <p:sldId id="258" r:id="rId3"/>
    <p:sldId id="259" r:id="rId4"/>
    <p:sldId id="260" r:id="rId5"/>
    <p:sldId id="267" r:id="rId6"/>
    <p:sldId id="268" r:id="rId7"/>
    <p:sldId id="269" r:id="rId8"/>
    <p:sldId id="270" r:id="rId9"/>
    <p:sldId id="271" r:id="rId10"/>
    <p:sldId id="261" r:id="rId11"/>
    <p:sldId id="262" r:id="rId12"/>
    <p:sldId id="265" r:id="rId13"/>
    <p:sldId id="264" r:id="rId14"/>
    <p:sldId id="266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7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B5984-C15E-402C-964B-0C62F6D47815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94021-949E-4274-80AA-3DAB33F72F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8146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B5984-C15E-402C-964B-0C62F6D47815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94021-949E-4274-80AA-3DAB33F72F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862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B5984-C15E-402C-964B-0C62F6D47815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94021-949E-4274-80AA-3DAB33F72F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383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B5984-C15E-402C-964B-0C62F6D47815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94021-949E-4274-80AA-3DAB33F72F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5183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B5984-C15E-402C-964B-0C62F6D47815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94021-949E-4274-80AA-3DAB33F72F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456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B5984-C15E-402C-964B-0C62F6D47815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94021-949E-4274-80AA-3DAB33F72F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75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B5984-C15E-402C-964B-0C62F6D47815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94021-949E-4274-80AA-3DAB33F72F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578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B5984-C15E-402C-964B-0C62F6D47815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94021-949E-4274-80AA-3DAB33F72F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180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B5984-C15E-402C-964B-0C62F6D47815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94021-949E-4274-80AA-3DAB33F72F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0968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B5984-C15E-402C-964B-0C62F6D47815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94021-949E-4274-80AA-3DAB33F72F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1896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B5984-C15E-402C-964B-0C62F6D47815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94021-949E-4274-80AA-3DAB33F72F68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01904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B5984-C15E-402C-964B-0C62F6D47815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94021-949E-4274-80AA-3DAB33F72F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1084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B5984-C15E-402C-964B-0C62F6D47815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94021-949E-4274-80AA-3DAB33F72F68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319668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B5984-C15E-402C-964B-0C62F6D47815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94021-949E-4274-80AA-3DAB33F72F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8018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B5984-C15E-402C-964B-0C62F6D47815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94021-949E-4274-80AA-3DAB33F72F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2334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B5984-C15E-402C-964B-0C62F6D47815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94021-949E-4274-80AA-3DAB33F72F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672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7B5984-C15E-402C-964B-0C62F6D47815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14C94021-949E-4274-80AA-3DAB33F72F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023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29B7B-DDFE-D6E4-99E9-637FCEE8B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Drugs?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0AB9F56-620A-35E8-6CB1-DD98FD6E47E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1" y="1556657"/>
            <a:ext cx="8915400" cy="48330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Substances that alter physical or mental functions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 be natural or synthetic</a:t>
            </a:r>
          </a:p>
          <a:p>
            <a:r>
              <a:rPr lang="en-US" sz="1800" dirty="0"/>
              <a:t>Include:</a:t>
            </a:r>
          </a:p>
          <a:p>
            <a:r>
              <a:rPr lang="en-US" sz="1800" dirty="0"/>
              <a:t>Tablets</a:t>
            </a:r>
          </a:p>
          <a:p>
            <a:r>
              <a:rPr lang="en-US" sz="1800" dirty="0"/>
              <a:t>Injections</a:t>
            </a:r>
          </a:p>
          <a:p>
            <a:r>
              <a:rPr lang="en-US" sz="1800" dirty="0"/>
              <a:t>Creams</a:t>
            </a:r>
          </a:p>
          <a:p>
            <a:r>
              <a:rPr lang="en-US" sz="1800" dirty="0"/>
              <a:t>Inhalers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to: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Treat or prevent disease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Relieve symptoms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Alter mood or behavior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63827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5D6FE-9E55-E710-2212-0D3900464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Routes of Drug Administration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2CE321B-E564-BBDA-5866-0B60486910B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68086" y="1892766"/>
            <a:ext cx="7293428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Oral (by mouth)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Injection (intravenous or intramuscular)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Inhalation (smoking or breathing in)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Topical (applied on skin)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Sublingual (under the tongue)</a:t>
            </a:r>
          </a:p>
        </p:txBody>
      </p:sp>
    </p:spTree>
    <p:extLst>
      <p:ext uri="{BB962C8B-B14F-4D97-AF65-F5344CB8AC3E}">
        <p14:creationId xmlns:p14="http://schemas.microsoft.com/office/powerpoint/2010/main" val="4860141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6512F-BED4-394B-91DD-6C76BDA51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Medical Drugs Must Be Monitored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641D707-3113-764F-0BBA-5027E2DD295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01485" y="1515369"/>
            <a:ext cx="7347857" cy="2343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Avoid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overdose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Prevent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side effects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correct dosage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Check for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drug interactions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treatment outcomes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7200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02461-A2AF-5141-EC26-13CB54BDB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Drug Monitoring?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1FFC6B7-7B0E-88A4-75DB-389ECADE179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98714" y="1241750"/>
            <a:ext cx="8784772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process of observing and measuring how a drug is working in the body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Aimed at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Ensuring effectiveness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Preventing toxicity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Adjusting doses when needed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31562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95D31D6-69A2-3371-7203-0C04C33F3192}"/>
              </a:ext>
            </a:extLst>
          </p:cNvPr>
          <p:cNvSpPr txBox="1"/>
          <p:nvPr/>
        </p:nvSpPr>
        <p:spPr>
          <a:xfrm>
            <a:off x="838200" y="413657"/>
            <a:ext cx="9601200" cy="5564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Low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Quality control  fore pharmaceutical products</a:t>
            </a:r>
            <a:r>
              <a:rPr lang="en-US" sz="2400" dirty="0"/>
              <a:t> </a:t>
            </a:r>
          </a:p>
          <a:p>
            <a:pPr marL="342900" lvl="0" indent="-342900" algn="justLow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is essential to ensure the </a:t>
            </a:r>
            <a:r>
              <a:rPr lang="en-US" sz="2400" b="1" dirty="0"/>
              <a:t>safety, efficacy, purity, and quality</a:t>
            </a:r>
            <a:r>
              <a:rPr lang="en-US" sz="2400" dirty="0"/>
              <a:t> of pharmaceutical products.</a:t>
            </a:r>
          </a:p>
          <a:p>
            <a:pPr marL="342900" lvl="0" indent="-342900" algn="justLow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Analytical techniques are used to identify and quantify drug substances and impurities.</a:t>
            </a:r>
          </a:p>
          <a:p>
            <a:pPr marL="342900" lvl="0" indent="-342900" algn="justLow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High-Performance Liquid Chromatography (HPLC)</a:t>
            </a:r>
            <a:r>
              <a:rPr lang="en-US" sz="2400" dirty="0"/>
              <a:t> is one of the most important analytical techniques used in pharmaceutical quality control.</a:t>
            </a:r>
          </a:p>
          <a:p>
            <a:pPr marL="342900" lvl="0" indent="-342900" algn="justLow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HPLC can separate, identify, and quantify different components of a drug formulation.</a:t>
            </a:r>
          </a:p>
        </p:txBody>
      </p:sp>
    </p:spTree>
    <p:extLst>
      <p:ext uri="{BB962C8B-B14F-4D97-AF65-F5344CB8AC3E}">
        <p14:creationId xmlns:p14="http://schemas.microsoft.com/office/powerpoint/2010/main" val="42517214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6802554-7B5D-D1DC-63BA-7B038537F64E}"/>
              </a:ext>
            </a:extLst>
          </p:cNvPr>
          <p:cNvSpPr txBox="1"/>
          <p:nvPr/>
        </p:nvSpPr>
        <p:spPr>
          <a:xfrm>
            <a:off x="957943" y="478971"/>
            <a:ext cx="8501743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Low">
              <a:buNone/>
            </a:pPr>
            <a:r>
              <a:rPr lang="en-US" sz="2800" b="1" dirty="0"/>
              <a:t>What is HPLC?</a:t>
            </a:r>
          </a:p>
          <a:p>
            <a:pPr algn="justLow">
              <a:buNone/>
            </a:pPr>
            <a:r>
              <a:rPr lang="en-US" sz="2800" b="1" dirty="0"/>
              <a:t>High-Performance Liquid Chromatography (HPLC)</a:t>
            </a:r>
            <a:r>
              <a:rPr lang="en-US" sz="2800" dirty="0"/>
              <a:t> is an analytical separation technique used to separate components of a mixture based on their different interactions with a stationary phase and a mobile phase.</a:t>
            </a:r>
          </a:p>
          <a:p>
            <a:pPr algn="justLow">
              <a:buNone/>
            </a:pPr>
            <a:r>
              <a:rPr lang="en-US" sz="2800" b="1" dirty="0"/>
              <a:t>Main functions:</a:t>
            </a:r>
          </a:p>
          <a:p>
            <a:pPr marL="342900" lvl="0" indent="-342900" algn="justLow">
              <a:buFont typeface="Arial" panose="020B0604020202020204" pitchFamily="34" charset="0"/>
              <a:buChar char="•"/>
            </a:pPr>
            <a:r>
              <a:rPr lang="en-US" sz="2800" dirty="0"/>
              <a:t>Separation</a:t>
            </a:r>
          </a:p>
          <a:p>
            <a:pPr marL="342900" lvl="0" indent="-342900" algn="justLow">
              <a:buFont typeface="Arial" panose="020B0604020202020204" pitchFamily="34" charset="0"/>
              <a:buChar char="•"/>
            </a:pPr>
            <a:r>
              <a:rPr lang="en-US" sz="2800" dirty="0"/>
              <a:t>Identification</a:t>
            </a:r>
          </a:p>
          <a:p>
            <a:pPr marL="342900" lvl="0" indent="-342900" algn="justLow">
              <a:buFont typeface="Arial" panose="020B0604020202020204" pitchFamily="34" charset="0"/>
              <a:buChar char="•"/>
            </a:pPr>
            <a:r>
              <a:rPr lang="en-US" sz="2800" dirty="0"/>
              <a:t>Quantification</a:t>
            </a:r>
          </a:p>
          <a:p>
            <a:pPr marL="342900" lvl="0" indent="-342900" algn="justLow">
              <a:buFont typeface="Arial" panose="020B0604020202020204" pitchFamily="34" charset="0"/>
              <a:buChar char="•"/>
            </a:pPr>
            <a:r>
              <a:rPr lang="en-US" sz="2800" dirty="0"/>
              <a:t>Purity assessment</a:t>
            </a:r>
          </a:p>
        </p:txBody>
      </p:sp>
    </p:spTree>
    <p:extLst>
      <p:ext uri="{BB962C8B-B14F-4D97-AF65-F5344CB8AC3E}">
        <p14:creationId xmlns:p14="http://schemas.microsoft.com/office/powerpoint/2010/main" val="27418330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30B5C8A-568C-A71B-3265-1106ECF29558}"/>
              </a:ext>
            </a:extLst>
          </p:cNvPr>
          <p:cNvSpPr txBox="1"/>
          <p:nvPr/>
        </p:nvSpPr>
        <p:spPr>
          <a:xfrm>
            <a:off x="664029" y="283029"/>
            <a:ext cx="9514114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Low">
              <a:lnSpc>
                <a:spcPct val="150000"/>
              </a:lnSpc>
              <a:buNone/>
            </a:pPr>
            <a:r>
              <a:rPr lang="en-US" sz="2400" b="1" dirty="0"/>
              <a:t>💊 Drug Stability Testing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400" b="1" dirty="0"/>
              <a:t>Definition</a:t>
            </a:r>
            <a:br>
              <a:rPr lang="en-US" sz="2400" dirty="0"/>
            </a:br>
            <a:r>
              <a:rPr lang="en-US" sz="2400" dirty="0"/>
              <a:t>Drug stability testing is the process of evaluating how the </a:t>
            </a:r>
            <a:r>
              <a:rPr lang="en-US" sz="2400" b="1" dirty="0"/>
              <a:t>quality, safety, and efficacy</a:t>
            </a:r>
            <a:r>
              <a:rPr lang="en-US" sz="2400" dirty="0"/>
              <a:t> of a pharmaceutical product change over time under different environmental conditions.</a:t>
            </a:r>
            <a:endParaRPr lang="ar-EG" sz="2400" dirty="0"/>
          </a:p>
          <a:p>
            <a:pPr algn="justLow">
              <a:lnSpc>
                <a:spcPct val="150000"/>
              </a:lnSpc>
            </a:pPr>
            <a:r>
              <a:rPr lang="en-US" sz="2400" b="1" dirty="0"/>
              <a:t>2. Why is it important?</a:t>
            </a:r>
            <a:endParaRPr lang="en-US" sz="2400" dirty="0"/>
          </a:p>
          <a:p>
            <a:pPr lvl="0" algn="justLow">
              <a:lnSpc>
                <a:spcPct val="150000"/>
              </a:lnSpc>
            </a:pPr>
            <a:r>
              <a:rPr lang="en-US" sz="2400" dirty="0"/>
              <a:t>Determines the </a:t>
            </a:r>
            <a:r>
              <a:rPr lang="en-US" sz="2400" b="1" dirty="0"/>
              <a:t>shelf life</a:t>
            </a:r>
            <a:r>
              <a:rPr lang="en-US" sz="2400" dirty="0"/>
              <a:t> of the drug. </a:t>
            </a:r>
          </a:p>
          <a:p>
            <a:pPr lvl="0" algn="justLow">
              <a:lnSpc>
                <a:spcPct val="150000"/>
              </a:lnSpc>
            </a:pPr>
            <a:r>
              <a:rPr lang="en-US" sz="2400" dirty="0"/>
              <a:t>Helps establish the </a:t>
            </a:r>
            <a:r>
              <a:rPr lang="en-US" sz="2400" b="1" dirty="0"/>
              <a:t>expiry date</a:t>
            </a:r>
            <a:r>
              <a:rPr lang="en-US" sz="2400" dirty="0"/>
              <a:t>. </a:t>
            </a:r>
          </a:p>
          <a:p>
            <a:pPr lvl="0" algn="justLow">
              <a:lnSpc>
                <a:spcPct val="150000"/>
              </a:lnSpc>
            </a:pPr>
            <a:r>
              <a:rPr lang="en-US" sz="2400" dirty="0"/>
              <a:t>Ensures the drug remains safe and effective. </a:t>
            </a:r>
          </a:p>
          <a:p>
            <a:pPr lvl="0" algn="justLow">
              <a:lnSpc>
                <a:spcPct val="150000"/>
              </a:lnSpc>
            </a:pPr>
            <a:r>
              <a:rPr lang="en-US" sz="2400" dirty="0"/>
              <a:t>Determines appropriate </a:t>
            </a:r>
            <a:r>
              <a:rPr lang="en-US" sz="2400" b="1" dirty="0"/>
              <a:t>storage conditions</a:t>
            </a:r>
            <a:r>
              <a:rPr lang="en-US" sz="2400" dirty="0"/>
              <a:t>. </a:t>
            </a:r>
          </a:p>
          <a:p>
            <a:pPr lvl="0" algn="justLow">
              <a:lnSpc>
                <a:spcPct val="150000"/>
              </a:lnSpc>
            </a:pPr>
            <a:r>
              <a:rPr lang="en-US" sz="2400" dirty="0"/>
              <a:t>Detects degradation products and changes in drug quality.</a:t>
            </a:r>
          </a:p>
          <a:p>
            <a:pPr marL="342900" indent="-342900"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84441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1F2B4773-3207-44CC-B7AC-892B704982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B8267CA-A7A5-4E11-9D92-4EAC3DD3E8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83D61B5-C6B4-4A4B-85AD-FEE7A54912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23">
              <a:extLst>
                <a:ext uri="{FF2B5EF4-FFF2-40B4-BE49-F238E27FC236}">
                  <a16:creationId xmlns:a16="http://schemas.microsoft.com/office/drawing/2014/main" id="{A0B67FE4-688F-4497-8BFD-157613A697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Rectangle 25">
              <a:extLst>
                <a:ext uri="{FF2B5EF4-FFF2-40B4-BE49-F238E27FC236}">
                  <a16:creationId xmlns:a16="http://schemas.microsoft.com/office/drawing/2014/main" id="{3BF5BE1A-9BAC-4581-A82B-FD8FE31595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971E5644-6772-414A-8199-E30BFB02A5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Rectangle 27">
              <a:extLst>
                <a:ext uri="{FF2B5EF4-FFF2-40B4-BE49-F238E27FC236}">
                  <a16:creationId xmlns:a16="http://schemas.microsoft.com/office/drawing/2014/main" id="{E8246D50-BB0C-408E-93FD-7B8D63A7F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Rectangle 28">
              <a:extLst>
                <a:ext uri="{FF2B5EF4-FFF2-40B4-BE49-F238E27FC236}">
                  <a16:creationId xmlns:a16="http://schemas.microsoft.com/office/drawing/2014/main" id="{AFBC5D22-68C1-44FB-8181-CB84ECAA8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29">
              <a:extLst>
                <a:ext uri="{FF2B5EF4-FFF2-40B4-BE49-F238E27FC236}">
                  <a16:creationId xmlns:a16="http://schemas.microsoft.com/office/drawing/2014/main" id="{FB6D0FCE-FBDB-4655-A1A7-640B1E86B5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BC8157DF-FD90-4AD6-B803-3AC0ACD8E6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3548B067-9D63-4D21-92EF-CBC9E6338C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A65AC7D1-EAA9-48F5-B509-60A7F50BF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D6320AF9-619A-4175-865B-5663E1AEF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63B6EC6-D752-4EE7-908B-F8F19E8C7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111313" y="0"/>
            <a:ext cx="1219200" cy="685800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EFECD4E8-AD3E-4228-82A2-9461958EA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3290979" y="3681413"/>
            <a:ext cx="4763558" cy="3176587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23">
            <a:extLst>
              <a:ext uri="{FF2B5EF4-FFF2-40B4-BE49-F238E27FC236}">
                <a16:creationId xmlns:a16="http://schemas.microsoft.com/office/drawing/2014/main" id="{7E018740-5C2B-4A41-AC1A-7E68D1EC1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2568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1" name="Rectangle 25">
            <a:extLst>
              <a:ext uri="{FF2B5EF4-FFF2-40B4-BE49-F238E27FC236}">
                <a16:creationId xmlns:a16="http://schemas.microsoft.com/office/drawing/2014/main" id="{166F75A4-C475-4941-8EE2-B80A06A2C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534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A032553A-72E8-4B0D-8405-FF9771C9A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33425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5" name="Rectangle 27">
            <a:extLst>
              <a:ext uri="{FF2B5EF4-FFF2-40B4-BE49-F238E27FC236}">
                <a16:creationId xmlns:a16="http://schemas.microsoft.com/office/drawing/2014/main" id="{765800AC-C3B9-498E-87BC-29FAE4C76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5592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7" name="Isosceles Triangle 36">
            <a:extLst>
              <a:ext uri="{FF2B5EF4-FFF2-40B4-BE49-F238E27FC236}">
                <a16:creationId xmlns:a16="http://schemas.microsoft.com/office/drawing/2014/main" id="{1F9D6ACB-2FF4-49F9-978A-E0D5327FC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72758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A5EC319D-0FEA-4B95-A3EA-01E35672C9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97631" y="-8467"/>
            <a:ext cx="5994369" cy="6866467"/>
          </a:xfrm>
          <a:custGeom>
            <a:avLst/>
            <a:gdLst>
              <a:gd name="connsiteX0" fmla="*/ 0 w 5994369"/>
              <a:gd name="connsiteY0" fmla="*/ 0 h 6866467"/>
              <a:gd name="connsiteX1" fmla="*/ 1249825 w 5994369"/>
              <a:gd name="connsiteY1" fmla="*/ 0 h 6866467"/>
              <a:gd name="connsiteX2" fmla="*/ 1249825 w 5994369"/>
              <a:gd name="connsiteY2" fmla="*/ 8467 h 6866467"/>
              <a:gd name="connsiteX3" fmla="*/ 5994369 w 5994369"/>
              <a:gd name="connsiteY3" fmla="*/ 8467 h 6866467"/>
              <a:gd name="connsiteX4" fmla="*/ 5994369 w 5994369"/>
              <a:gd name="connsiteY4" fmla="*/ 6866467 h 6866467"/>
              <a:gd name="connsiteX5" fmla="*/ 1249825 w 5994369"/>
              <a:gd name="connsiteY5" fmla="*/ 6866467 h 6866467"/>
              <a:gd name="connsiteX6" fmla="*/ 1109382 w 5994369"/>
              <a:gd name="connsiteY6" fmla="*/ 6866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94369" h="6866467">
                <a:moveTo>
                  <a:pt x="0" y="0"/>
                </a:moveTo>
                <a:lnTo>
                  <a:pt x="1249825" y="0"/>
                </a:lnTo>
                <a:lnTo>
                  <a:pt x="1249825" y="8467"/>
                </a:lnTo>
                <a:lnTo>
                  <a:pt x="5994369" y="8467"/>
                </a:lnTo>
                <a:lnTo>
                  <a:pt x="5994369" y="6866467"/>
                </a:lnTo>
                <a:lnTo>
                  <a:pt x="1249825" y="6866467"/>
                </a:lnTo>
                <a:lnTo>
                  <a:pt x="1109382" y="6866467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4FD705-3DEA-5EE9-FB5E-DBC1CD003369}"/>
              </a:ext>
            </a:extLst>
          </p:cNvPr>
          <p:cNvSpPr txBox="1"/>
          <p:nvPr/>
        </p:nvSpPr>
        <p:spPr>
          <a:xfrm>
            <a:off x="7098737" y="718457"/>
            <a:ext cx="4595976" cy="543681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dirty="0">
                <a:solidFill>
                  <a:srgbClr val="FFFFFF"/>
                </a:solidFill>
              </a:rPr>
              <a:t>3. Factors affecting drug stability?</a:t>
            </a:r>
          </a:p>
          <a:p>
            <a:pPr lvl="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dirty="0">
                <a:solidFill>
                  <a:srgbClr val="FFFFFF"/>
                </a:solidFill>
              </a:rPr>
              <a:t>🌡️ </a:t>
            </a:r>
            <a:r>
              <a:rPr lang="en-US" b="1" dirty="0">
                <a:solidFill>
                  <a:srgbClr val="FFFFFF"/>
                </a:solidFill>
              </a:rPr>
              <a:t>Temperature</a:t>
            </a:r>
            <a:r>
              <a:rPr lang="en-US" dirty="0">
                <a:solidFill>
                  <a:srgbClr val="FFFFFF"/>
                </a:solidFill>
              </a:rPr>
              <a:t> </a:t>
            </a:r>
          </a:p>
          <a:p>
            <a:pPr lvl="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dirty="0">
                <a:solidFill>
                  <a:srgbClr val="FFFFFF"/>
                </a:solidFill>
              </a:rPr>
              <a:t>💧 </a:t>
            </a:r>
            <a:r>
              <a:rPr lang="en-US" b="1" dirty="0">
                <a:solidFill>
                  <a:srgbClr val="FFFFFF"/>
                </a:solidFill>
              </a:rPr>
              <a:t>Humidity</a:t>
            </a:r>
            <a:r>
              <a:rPr lang="en-US" dirty="0">
                <a:solidFill>
                  <a:srgbClr val="FFFFFF"/>
                </a:solidFill>
              </a:rPr>
              <a:t> </a:t>
            </a:r>
          </a:p>
          <a:p>
            <a:pPr lvl="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dirty="0">
                <a:solidFill>
                  <a:srgbClr val="FFFFFF"/>
                </a:solidFill>
              </a:rPr>
              <a:t>☀️ </a:t>
            </a:r>
            <a:r>
              <a:rPr lang="en-US" b="1" dirty="0">
                <a:solidFill>
                  <a:srgbClr val="FFFFFF"/>
                </a:solidFill>
              </a:rPr>
              <a:t>Light</a:t>
            </a:r>
            <a:r>
              <a:rPr lang="en-US" dirty="0">
                <a:solidFill>
                  <a:srgbClr val="FFFFFF"/>
                </a:solidFill>
              </a:rPr>
              <a:t> </a:t>
            </a:r>
          </a:p>
          <a:p>
            <a:pPr lvl="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dirty="0">
                <a:solidFill>
                  <a:srgbClr val="FFFFFF"/>
                </a:solidFill>
              </a:rPr>
              <a:t>🫧 </a:t>
            </a:r>
            <a:r>
              <a:rPr lang="en-US" b="1" dirty="0">
                <a:solidFill>
                  <a:srgbClr val="FFFFFF"/>
                </a:solidFill>
              </a:rPr>
              <a:t>Oxygen</a:t>
            </a:r>
            <a:r>
              <a:rPr lang="en-US" dirty="0">
                <a:solidFill>
                  <a:srgbClr val="FFFFFF"/>
                </a:solidFill>
              </a:rPr>
              <a:t> </a:t>
            </a:r>
          </a:p>
          <a:p>
            <a:pPr lvl="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b="1" dirty="0">
                <a:solidFill>
                  <a:srgbClr val="FFFFFF"/>
                </a:solidFill>
              </a:rPr>
              <a:t>pH</a:t>
            </a:r>
            <a:r>
              <a:rPr lang="en-US" dirty="0">
                <a:solidFill>
                  <a:srgbClr val="FFFFFF"/>
                </a:solidFill>
              </a:rPr>
              <a:t> </a:t>
            </a:r>
          </a:p>
          <a:p>
            <a:pPr lvl="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dirty="0">
                <a:solidFill>
                  <a:srgbClr val="FFFFFF"/>
                </a:solidFill>
              </a:rPr>
              <a:t>Microbial contamination</a:t>
            </a:r>
          </a:p>
          <a:p>
            <a:pPr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endParaRPr lang="en-US" dirty="0">
              <a:solidFill>
                <a:srgbClr val="FFFFFF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DE325EC-5245-2547-0A13-C4932E58FE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557682"/>
              </p:ext>
            </p:extLst>
          </p:nvPr>
        </p:nvGraphicFramePr>
        <p:xfrm>
          <a:off x="119743" y="1987113"/>
          <a:ext cx="6210770" cy="297267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53552">
                  <a:extLst>
                    <a:ext uri="{9D8B030D-6E8A-4147-A177-3AD203B41FA5}">
                      <a16:colId xmlns:a16="http://schemas.microsoft.com/office/drawing/2014/main" val="4044493227"/>
                    </a:ext>
                  </a:extLst>
                </a:gridCol>
                <a:gridCol w="3257218">
                  <a:extLst>
                    <a:ext uri="{9D8B030D-6E8A-4147-A177-3AD203B41FA5}">
                      <a16:colId xmlns:a16="http://schemas.microsoft.com/office/drawing/2014/main" val="3312454244"/>
                    </a:ext>
                  </a:extLst>
                </a:gridCol>
              </a:tblGrid>
              <a:tr h="3144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Type</a:t>
                      </a:r>
                    </a:p>
                  </a:txBody>
                  <a:tcPr marL="71458" marR="71458" marT="35729" marB="357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Purpose</a:t>
                      </a:r>
                    </a:p>
                  </a:txBody>
                  <a:tcPr marL="71458" marR="71458" marT="35729" marB="35729" anchor="ctr"/>
                </a:tc>
                <a:extLst>
                  <a:ext uri="{0D108BD9-81ED-4DB2-BD59-A6C34878D82A}">
                    <a16:rowId xmlns:a16="http://schemas.microsoft.com/office/drawing/2014/main" val="4118302236"/>
                  </a:ext>
                </a:extLst>
              </a:tr>
              <a:tr h="9575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Long-term stability</a:t>
                      </a:r>
                    </a:p>
                  </a:txBody>
                  <a:tcPr marL="71458" marR="71458" marT="35729" marB="357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Studies the drug under recommended storage conditions over a long period</a:t>
                      </a:r>
                    </a:p>
                  </a:txBody>
                  <a:tcPr marL="71458" marR="71458" marT="35729" marB="35729" anchor="ctr"/>
                </a:tc>
                <a:extLst>
                  <a:ext uri="{0D108BD9-81ED-4DB2-BD59-A6C34878D82A}">
                    <a16:rowId xmlns:a16="http://schemas.microsoft.com/office/drawing/2014/main" val="790770041"/>
                  </a:ext>
                </a:extLst>
              </a:tr>
              <a:tr h="9575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Accelerated stability</a:t>
                      </a:r>
                    </a:p>
                  </a:txBody>
                  <a:tcPr marL="71458" marR="71458" marT="35729" marB="357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Uses higher temperature/humidity to predict stability over a shorter period</a:t>
                      </a:r>
                    </a:p>
                  </a:txBody>
                  <a:tcPr marL="71458" marR="71458" marT="35729" marB="35729" anchor="ctr"/>
                </a:tc>
                <a:extLst>
                  <a:ext uri="{0D108BD9-81ED-4DB2-BD59-A6C34878D82A}">
                    <a16:rowId xmlns:a16="http://schemas.microsoft.com/office/drawing/2014/main" val="3904084605"/>
                  </a:ext>
                </a:extLst>
              </a:tr>
              <a:tr h="7431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Intermediate stability</a:t>
                      </a:r>
                    </a:p>
                  </a:txBody>
                  <a:tcPr marL="71458" marR="71458" marT="35729" marB="357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Used when significant changes occur under accelerated conditions</a:t>
                      </a:r>
                    </a:p>
                  </a:txBody>
                  <a:tcPr marL="71458" marR="71458" marT="35729" marB="35729" anchor="ctr"/>
                </a:tc>
                <a:extLst>
                  <a:ext uri="{0D108BD9-81ED-4DB2-BD59-A6C34878D82A}">
                    <a16:rowId xmlns:a16="http://schemas.microsoft.com/office/drawing/2014/main" val="193348746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9B71234-F94C-F144-B1A3-DF8BB0495157}"/>
              </a:ext>
            </a:extLst>
          </p:cNvPr>
          <p:cNvSpPr txBox="1"/>
          <p:nvPr/>
        </p:nvSpPr>
        <p:spPr>
          <a:xfrm>
            <a:off x="1306287" y="968829"/>
            <a:ext cx="458282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4. Types of Stability Testing??/?</a:t>
            </a:r>
          </a:p>
          <a:p>
            <a:r>
              <a:rPr lang="en-US" sz="2400" b="1" dirty="0"/>
              <a:t>4. Types of Stability Testing?</a:t>
            </a:r>
          </a:p>
        </p:txBody>
      </p:sp>
    </p:spTree>
    <p:extLst>
      <p:ext uri="{BB962C8B-B14F-4D97-AF65-F5344CB8AC3E}">
        <p14:creationId xmlns:p14="http://schemas.microsoft.com/office/powerpoint/2010/main" val="6829611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521C024-6EB9-7B46-5DB9-0972FE8B8A6A}"/>
              </a:ext>
            </a:extLst>
          </p:cNvPr>
          <p:cNvSpPr txBox="1"/>
          <p:nvPr/>
        </p:nvSpPr>
        <p:spPr>
          <a:xfrm>
            <a:off x="794657" y="348342"/>
            <a:ext cx="7824107" cy="5656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/>
              <a:t>5. What do we monitor?</a:t>
            </a:r>
            <a:br>
              <a:rPr lang="en-US" sz="2400" dirty="0"/>
            </a:br>
            <a:r>
              <a:rPr lang="en-US" sz="2400" dirty="0"/>
              <a:t>During stability studies, several characteristics can be evaluated: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Appearance and color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Drug potency/assay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Degradation products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Dissolution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pH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Moisture content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Microbiological quality</a:t>
            </a:r>
          </a:p>
        </p:txBody>
      </p:sp>
    </p:spTree>
    <p:extLst>
      <p:ext uri="{BB962C8B-B14F-4D97-AF65-F5344CB8AC3E}">
        <p14:creationId xmlns:p14="http://schemas.microsoft.com/office/powerpoint/2010/main" val="20081049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FC1B2-F737-9B85-C57A-1FD909B53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Therapeutic Drug Monitoring (TDM)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E69D60A-F3C3-EC32-9CD3-18B3813CB9E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62194"/>
            <a:ext cx="6699270" cy="46782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Definition: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Measuring drug levels in blood at regular intervals</a:t>
            </a:r>
          </a:p>
          <a:p>
            <a:pPr mar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Used for drugs with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narrow therapeutic window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Common examples:</a:t>
            </a:r>
          </a:p>
          <a:p>
            <a:pPr mar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Warfarin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(blood thinner)</a:t>
            </a:r>
          </a:p>
          <a:p>
            <a:pPr mar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Lithium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(mental health)</a:t>
            </a:r>
          </a:p>
          <a:p>
            <a:pPr mar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Digoxin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(heart medication)</a:t>
            </a:r>
          </a:p>
          <a:p>
            <a:pPr mar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Antiepileptics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(e.g., phenytoin)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18404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8ECD6-AB87-91C5-368C-0AE87D594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Steps in Drug Monitoring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76EA5FF-61EC-A616-3191-B776D59EA67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41884"/>
            <a:ext cx="5823857" cy="2776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b="1" dirty="0">
                <a:latin typeface="Arial" panose="020B0604020202020204" pitchFamily="34" charset="0"/>
              </a:rPr>
              <a:t>1.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Prescribing: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Doctor selects the right drug &amp; dose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2.Testing: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Blood or urine samples taken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3.Analysis: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Lab measures drug levels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4.Adjustment: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Dose may be changed based on results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5.Follow-up: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Regular reviews to ensure safety</a:t>
            </a:r>
          </a:p>
        </p:txBody>
      </p:sp>
    </p:spTree>
    <p:extLst>
      <p:ext uri="{BB962C8B-B14F-4D97-AF65-F5344CB8AC3E}">
        <p14:creationId xmlns:p14="http://schemas.microsoft.com/office/powerpoint/2010/main" val="5256974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C56C7-FE99-086F-9BDF-F8EE0CABA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 of Drug Monitoring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A82F46-50B0-E6EF-4E53-68B7DD0ED1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✅ Better treatment results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✅ Fewer side effects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✅ Early detection of problems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✅ Improved patient safety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✅ Reduced healthcare costs</a:t>
            </a:r>
          </a:p>
        </p:txBody>
      </p:sp>
    </p:spTree>
    <p:extLst>
      <p:ext uri="{BB962C8B-B14F-4D97-AF65-F5344CB8AC3E}">
        <p14:creationId xmlns:p14="http://schemas.microsoft.com/office/powerpoint/2010/main" val="5307595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C3BE0-3C34-081F-6156-E91A15D69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Challenges in Drug Monitoring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6E11C-6B4C-089A-F7A7-EEC368497D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⚠️ Limited access in rural areas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⚠️ Patient non-compliance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⚠️ Cost of tests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⚠️ Lack of awareness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⚠️ Privacy concerns with digital data</a:t>
            </a:r>
          </a:p>
        </p:txBody>
      </p:sp>
    </p:spTree>
    <p:extLst>
      <p:ext uri="{BB962C8B-B14F-4D97-AF65-F5344CB8AC3E}">
        <p14:creationId xmlns:p14="http://schemas.microsoft.com/office/powerpoint/2010/main" val="36982576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C5735-A3B6-AE40-E5A3-09D41FC42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Real-World Examples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0AC4CC8-9F72-9704-53EB-07CC055F7E0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730191"/>
            <a:ext cx="7892142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Antibiotic Monitoring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avoid resistance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Cancer Treatment Monitoring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during chemotherapy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Insulin Monitoring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diabetic patients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Anti-seizure Drug Monitoring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prevent toxicity</a:t>
            </a:r>
          </a:p>
        </p:txBody>
      </p:sp>
    </p:spTree>
    <p:extLst>
      <p:ext uri="{BB962C8B-B14F-4D97-AF65-F5344CB8AC3E}">
        <p14:creationId xmlns:p14="http://schemas.microsoft.com/office/powerpoint/2010/main" val="180517183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TM02900688[[fn=Facet]]</Template>
  <TotalTime>181</TotalTime>
  <Words>600</Words>
  <Application>Microsoft Office PowerPoint</Application>
  <PresentationFormat>Widescreen</PresentationFormat>
  <Paragraphs>116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Times New Roman</vt:lpstr>
      <vt:lpstr>Trebuchet MS</vt:lpstr>
      <vt:lpstr>Wingdings 3</vt:lpstr>
      <vt:lpstr>Facet</vt:lpstr>
      <vt:lpstr>What Are Drugs?</vt:lpstr>
      <vt:lpstr>Routes of Drug Administration</vt:lpstr>
      <vt:lpstr>Why Medical Drugs Must Be Monitored</vt:lpstr>
      <vt:lpstr>What Is Drug Monitoring?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Therapeutic Drug Monitoring (TDM)</vt:lpstr>
      <vt:lpstr>Steps in Drug Monitoring</vt:lpstr>
      <vt:lpstr>Benefits of Drug Monitoring</vt:lpstr>
      <vt:lpstr>Challenges in Drug Monitoring</vt:lpstr>
      <vt:lpstr>Real-World Examples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</dc:creator>
  <cp:lastModifiedBy>nada ellaban</cp:lastModifiedBy>
  <cp:revision>3</cp:revision>
  <dcterms:created xsi:type="dcterms:W3CDTF">2025-10-20T04:12:13Z</dcterms:created>
  <dcterms:modified xsi:type="dcterms:W3CDTF">2026-09-29T12:26:54Z</dcterms:modified>
</cp:coreProperties>
</file>