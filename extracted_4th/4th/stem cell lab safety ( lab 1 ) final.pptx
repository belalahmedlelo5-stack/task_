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38"/>
  </p:notesMasterIdLst>
  <p:handoutMasterIdLst>
    <p:handoutMasterId r:id="rId39"/>
  </p:handoutMasterIdLst>
  <p:sldIdLst>
    <p:sldId id="272" r:id="rId2"/>
    <p:sldId id="273" r:id="rId3"/>
    <p:sldId id="283" r:id="rId4"/>
    <p:sldId id="274" r:id="rId5"/>
    <p:sldId id="308" r:id="rId6"/>
    <p:sldId id="275" r:id="rId7"/>
    <p:sldId id="280" r:id="rId8"/>
    <p:sldId id="281" r:id="rId9"/>
    <p:sldId id="282" r:id="rId10"/>
    <p:sldId id="276" r:id="rId11"/>
    <p:sldId id="292" r:id="rId12"/>
    <p:sldId id="293" r:id="rId13"/>
    <p:sldId id="294" r:id="rId14"/>
    <p:sldId id="295" r:id="rId15"/>
    <p:sldId id="296" r:id="rId16"/>
    <p:sldId id="297" r:id="rId17"/>
    <p:sldId id="298" r:id="rId18"/>
    <p:sldId id="299" r:id="rId19"/>
    <p:sldId id="300" r:id="rId20"/>
    <p:sldId id="301" r:id="rId21"/>
    <p:sldId id="302" r:id="rId22"/>
    <p:sldId id="303" r:id="rId23"/>
    <p:sldId id="304" r:id="rId24"/>
    <p:sldId id="305" r:id="rId25"/>
    <p:sldId id="306" r:id="rId26"/>
    <p:sldId id="307" r:id="rId27"/>
    <p:sldId id="277" r:id="rId28"/>
    <p:sldId id="284" r:id="rId29"/>
    <p:sldId id="285" r:id="rId30"/>
    <p:sldId id="286" r:id="rId31"/>
    <p:sldId id="287" r:id="rId32"/>
    <p:sldId id="291" r:id="rId33"/>
    <p:sldId id="288" r:id="rId34"/>
    <p:sldId id="289" r:id="rId35"/>
    <p:sldId id="290" r:id="rId36"/>
    <p:sldId id="278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799B23B-EC83-4686-B30A-512413B5E67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0" d="100"/>
          <a:sy n="90" d="100"/>
        </p:scale>
        <p:origin x="285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9" Type="http://schemas.openxmlformats.org/officeDocument/2006/relationships/handoutMaster" Target="handoutMasters/handoutMaster1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34" Type="http://schemas.openxmlformats.org/officeDocument/2006/relationships/slide" Target="slides/slide33.xml" /><Relationship Id="rId42" Type="http://schemas.openxmlformats.org/officeDocument/2006/relationships/theme" Target="theme/theme1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slide" Target="slides/slide32.xml" /><Relationship Id="rId38" Type="http://schemas.openxmlformats.org/officeDocument/2006/relationships/notesMaster" Target="notesMasters/notesMaster1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slide" Target="slides/slide28.xml" /><Relationship Id="rId41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slide" Target="slides/slide31.xml" /><Relationship Id="rId37" Type="http://schemas.openxmlformats.org/officeDocument/2006/relationships/slide" Target="slides/slide36.xml" /><Relationship Id="rId40" Type="http://schemas.openxmlformats.org/officeDocument/2006/relationships/presProps" Target="presProp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36" Type="http://schemas.openxmlformats.org/officeDocument/2006/relationships/slide" Target="slides/slide35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slide" Target="slides/slide30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slide" Target="slides/slide29.xml" /><Relationship Id="rId35" Type="http://schemas.openxmlformats.org/officeDocument/2006/relationships/slide" Target="slides/slide34.xml" /><Relationship Id="rId43" Type="http://schemas.openxmlformats.org/officeDocument/2006/relationships/tableStyles" Target="tableStyles.xml" 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6CD02F-CDCF-4979-B982-AA83B8D8A169}" type="datetime1">
              <a:rPr lang="en-GB" smtClean="0"/>
              <a:t>21/09/2025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799703-1286-42A2-8339-FCFA0AAF133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9842395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3C57F86-7EAE-4D53-A6DA-066AD55ACDD6}" type="datetime1">
              <a:rPr lang="en-GB" noProof="0" smtClean="0"/>
              <a:t>21/09/2025</a:t>
            </a:fld>
            <a:endParaRPr lang="en-GB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 dirty="0"/>
              <a:t>Click to edit Master text styles</a:t>
            </a:r>
          </a:p>
          <a:p>
            <a:pPr lvl="1" rtl="0"/>
            <a:r>
              <a:rPr lang="en-GB" noProof="0" dirty="0"/>
              <a:t>Second level</a:t>
            </a:r>
          </a:p>
          <a:p>
            <a:pPr lvl="2" rtl="0"/>
            <a:r>
              <a:rPr lang="en-GB" noProof="0" dirty="0"/>
              <a:t>Third level</a:t>
            </a:r>
          </a:p>
          <a:p>
            <a:pPr lvl="3" rtl="0"/>
            <a:r>
              <a:rPr lang="en-GB" noProof="0" dirty="0"/>
              <a:t>Fourth level</a:t>
            </a:r>
          </a:p>
          <a:p>
            <a:pPr lvl="4" rtl="0"/>
            <a:r>
              <a:rPr lang="en-GB" noProof="0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93B0CF2-7F87-4E02-A248-870047730F99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61498132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893B0CF2-7F87-4E02-A248-870047730F99}" type="slidenum">
              <a:rPr lang="en-GB" smtClean="0"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951338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93B0CF2-7F87-4E02-A248-870047730F99}" type="slidenum">
              <a:rPr lang="en-GB" smtClean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47605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93B0CF2-7F87-4E02-A248-870047730F99}" type="slidenum">
              <a:rPr lang="en-GB" smtClean="0"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642809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93B0CF2-7F87-4E02-A248-870047730F99}" type="slidenum">
              <a:rPr lang="en-GB" smtClean="0"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513217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FA389-CF89-0F3E-EA97-F775AFEDA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01F44D-4E80-A764-1A80-8ADA37B90B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E252A5-F96C-70FF-90CB-8C726AD273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405742-7942-B4D7-0CB5-33D43208A5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93B0CF2-7F87-4E02-A248-870047730F99}" type="slidenum">
              <a:rPr lang="en-GB" smtClean="0"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528674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A529C-407A-9245-856F-10C64B996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577478-0901-CF6D-BC0C-E2CD65098C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83FE64-F711-09D5-B74E-111B0B599F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FFD6A3-D234-6728-7F2E-687A673918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93B0CF2-7F87-4E02-A248-870047730F99}" type="slidenum">
              <a:rPr lang="en-GB" smtClean="0"/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522225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48638-6DD7-6426-5FA3-9DC6500AE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709CB4-A9C6-0A51-097E-D1B6CCFDF7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38B50A-9E6D-DE88-ADF6-F6B0C93155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2C92E6-D2CD-0B69-F1F4-3AAA0A3156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93B0CF2-7F87-4E02-A248-870047730F99}" type="slidenum">
              <a:rPr lang="en-GB" smtClean="0"/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47897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93B0CF2-7F87-4E02-A248-870047730F99}" type="slidenum">
              <a:rPr lang="en-GB" smtClean="0"/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635276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93B0CF2-7F87-4E02-A248-870047730F99}" type="slidenum">
              <a:rPr lang="en-GB" smtClean="0"/>
              <a:t>27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466024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93B0CF2-7F87-4E02-A248-870047730F99}" type="slidenum">
              <a:rPr lang="en-GB" smtClean="0"/>
              <a:t>36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946610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 rtl="0"/>
            <a:fld id="{23BEFF46-B43A-4F92-A3FA-F4C4482D4BB8}" type="datetime1">
              <a:rPr lang="en-GB" noProof="0" smtClean="0"/>
              <a:t>21/09/2025</a:t>
            </a:fld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 noProof="0"/>
              <a:t>Add a footer</a:t>
            </a:r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01CF334-2D5C-4859-84A6-CA7E6E43FAEB}" type="slidenum">
              <a:rPr lang="en-GB" noProof="0" smtClean="0"/>
              <a:t>‹#›</a:t>
            </a:fld>
            <a:endParaRPr lang="en-GB" noProof="0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C10CFC-50A5-ACE0-2FF1-40B7B08A4A54}"/>
              </a:ext>
            </a:extLst>
          </p:cNvPr>
          <p:cNvCxnSpPr/>
          <p:nvPr userDrawn="1"/>
        </p:nvCxnSpPr>
        <p:spPr>
          <a:xfrm flipV="1">
            <a:off x="3048" y="5937956"/>
            <a:ext cx="8241" cy="56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59445DA-B34A-E824-CD36-ED7553B8F7CA}"/>
              </a:ext>
            </a:extLst>
          </p:cNvPr>
          <p:cNvCxnSpPr/>
          <p:nvPr userDrawn="1"/>
        </p:nvCxnSpPr>
        <p:spPr>
          <a:xfrm flipV="1">
            <a:off x="3048" y="5937956"/>
            <a:ext cx="8241" cy="56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3293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086FA7F8-0928-4E42-B917-1508A190586B}" type="datetime1">
              <a:rPr lang="en-GB" noProof="0" smtClean="0"/>
              <a:t>21/09/2025</a:t>
            </a:fld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 noProof="0"/>
              <a:t>Add a footer</a:t>
            </a:r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01CF334-2D5C-4859-84A6-CA7E6E43FAEB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059561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5853A37-40F4-4AF1-BDAB-899C68E65D9D}" type="datetime1">
              <a:rPr lang="en-GB" noProof="0" smtClean="0"/>
              <a:t>21/09/2025</a:t>
            </a:fld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 noProof="0"/>
              <a:t>Add a footer</a:t>
            </a:r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01CF334-2D5C-4859-84A6-CA7E6E43FAEB}" type="slidenum">
              <a:rPr lang="en-GB" noProof="0" smtClean="0"/>
              <a:t>‹#›</a:t>
            </a:fld>
            <a:endParaRPr lang="en-GB" noProof="0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2761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B2DE38C-248C-4852-BE8B-BFD72E5E4B85}" type="datetime1">
              <a:rPr lang="en-GB" noProof="0" smtClean="0"/>
              <a:t>21/09/2025</a:t>
            </a:fld>
            <a:endParaRPr lang="en-GB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 noProof="0"/>
              <a:t>Add a footer</a:t>
            </a:r>
            <a:endParaRPr lang="en-GB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01CF334-2D5C-4859-84A6-CA7E6E43FAEB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687099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843E1BD-3188-4A6A-B0C0-2CA1EEFB42D8}" type="datetime1">
              <a:rPr lang="en-GB" noProof="0" smtClean="0"/>
              <a:t>21/09/2025</a:t>
            </a:fld>
            <a:endParaRPr lang="en-GB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 noProof="0"/>
              <a:t>Add a footer</a:t>
            </a:r>
            <a:endParaRPr lang="en-GB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01CF334-2D5C-4859-84A6-CA7E6E43FAEB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70659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5C60B82-7E07-4E99-B109-3665D479AF5E}" type="datetime1">
              <a:rPr lang="en-GB" noProof="0" smtClean="0"/>
              <a:t>21/09/2025</a:t>
            </a:fld>
            <a:endParaRPr lang="en-GB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 noProof="0"/>
              <a:t>Add a footer</a:t>
            </a:r>
            <a:endParaRPr lang="en-GB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01CF334-2D5C-4859-84A6-CA7E6E43FAEB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942837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BE7B277-F8BD-4226-BE2E-8C55DA9B999A}" type="datetime1">
              <a:rPr lang="en-GB" noProof="0" smtClean="0"/>
              <a:t>21/09/2025</a:t>
            </a:fld>
            <a:endParaRPr lang="en-GB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 noProof="0"/>
              <a:t>Add a footer</a:t>
            </a:r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01CF334-2D5C-4859-84A6-CA7E6E43FAEB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293685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9174814-53B1-401B-A4A0-040843C1FF19}" type="datetime1">
              <a:rPr lang="en-GB" noProof="0" smtClean="0"/>
              <a:t>21/09/2025</a:t>
            </a:fld>
            <a:endParaRPr lang="en-GB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 noProof="0"/>
              <a:t>Add a footer</a:t>
            </a:r>
            <a:endParaRPr lang="en-GB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01CF334-2D5C-4859-84A6-CA7E6E43FAEB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35570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6EC60F6-9213-40AE-98D9-27BAA08F6D69}" type="datetime1">
              <a:rPr lang="en-GB" noProof="0" smtClean="0"/>
              <a:t>21/09/2025</a:t>
            </a:fld>
            <a:endParaRPr lang="en-GB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 noProof="0"/>
              <a:t>Add a footer</a:t>
            </a:r>
            <a:endParaRPr lang="en-GB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01CF334-2D5C-4859-84A6-CA7E6E43FAEB}" type="slidenum">
              <a:rPr lang="en-GB" noProof="0" smtClean="0"/>
              <a:t>‹#›</a:t>
            </a:fld>
            <a:endParaRPr lang="en-GB" noProof="0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3626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45D39F6-F32F-422F-A524-C8CAC8EF0EA0}" type="datetime1">
              <a:rPr lang="en-GB" noProof="0" smtClean="0"/>
              <a:t>21/09/2025</a:t>
            </a:fld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 noProof="0"/>
              <a:t>Add a footer</a:t>
            </a:r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01CF334-2D5C-4859-84A6-CA7E6E43FAEB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292279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D0D8853-86BE-4961-A33E-0D3948738D2C}" type="datetime1">
              <a:rPr lang="en-GB" noProof="0" smtClean="0"/>
              <a:t>21/09/2025</a:t>
            </a:fld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 noProof="0"/>
              <a:t>Add a footer</a:t>
            </a:r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01CF334-2D5C-4859-84A6-CA7E6E43FAEB}" type="slidenum">
              <a:rPr lang="en-GB" noProof="0" smtClean="0"/>
              <a:t>‹#›</a:t>
            </a:fld>
            <a:endParaRPr lang="en-GB" noProof="0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991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B1AAA1B0-5CCA-451B-9B71-15404CCF6D82}" type="datetime1">
              <a:rPr lang="en-GB" noProof="0" smtClean="0"/>
              <a:t>21/09/2025</a:t>
            </a:fld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r>
              <a:rPr lang="en-GB" noProof="0"/>
              <a:t>Add a footer</a:t>
            </a:r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01CF334-2D5C-4859-84A6-CA7E6E43FAEB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3385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xonrjzyx.blob.core.windows.net/lab-safety-practices.html" TargetMode="External" /><Relationship Id="rId2" Type="http://schemas.openxmlformats.org/officeDocument/2006/relationships/image" Target="../media/image2.jp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deserve.com/cael/lab-safety" TargetMode="External" /><Relationship Id="rId3" Type="http://schemas.openxmlformats.org/officeDocument/2006/relationships/hyperlink" Target="https://myerstest.com/product/lab-coats/" TargetMode="External" /><Relationship Id="rId7" Type="http://schemas.openxmlformats.org/officeDocument/2006/relationships/image" Target="../media/image6.jpg" /><Relationship Id="rId2" Type="http://schemas.openxmlformats.org/officeDocument/2006/relationships/image" Target="../media/image3.jp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5.png" /><Relationship Id="rId5" Type="http://schemas.openxmlformats.org/officeDocument/2006/relationships/hyperlink" Target="https://exorroefy.blob.core.windows.net/medical-grade-nitrile-gloves-near-me.html" TargetMode="External" /><Relationship Id="rId4" Type="http://schemas.openxmlformats.org/officeDocument/2006/relationships/image" Target="../media/image4.jpeg" /><Relationship Id="rId9" Type="http://schemas.openxmlformats.org/officeDocument/2006/relationships/image" Target="../media/image7.pn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.xml" /><Relationship Id="rId4" Type="http://schemas.openxmlformats.org/officeDocument/2006/relationships/hyperlink" Target="https://microbeonline.com/biological-safety-cabinet-bsc-types-working-mechanism/" TargetMode="Externa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2.xml" /><Relationship Id="rId4" Type="http://schemas.openxmlformats.org/officeDocument/2006/relationships/hyperlink" Target="https://www.vecteezy.com/vector-art/20456057-symbol-hazardous-toxic-warning-sign-chemical-hazard-sign" TargetMode="Externa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2.xml" /><Relationship Id="rId4" Type="http://schemas.openxmlformats.org/officeDocument/2006/relationships/hyperlink" Target="https://www.amazon.ca/Sharps-Container-Containers-Disposal-Biohazard/dp/B0BVN2M2PG" TargetMode="Externa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 /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 /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 /><Relationship Id="rId2" Type="http://schemas.openxmlformats.org/officeDocument/2006/relationships/image" Target="../media/image13.png" /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 /><Relationship Id="rId1" Type="http://schemas.openxmlformats.org/officeDocument/2006/relationships/slideLayout" Target="../slideLayouts/slideLayout2.xml" 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 /><Relationship Id="rId2" Type="http://schemas.openxmlformats.org/officeDocument/2006/relationships/image" Target="../media/image16.png" /><Relationship Id="rId1" Type="http://schemas.openxmlformats.org/officeDocument/2006/relationships/slideLayout" Target="../slideLayouts/slideLayout2.xml" 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 /><Relationship Id="rId1" Type="http://schemas.openxmlformats.org/officeDocument/2006/relationships/slideLayout" Target="../slideLayouts/slideLayout2.xml" 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 /><Relationship Id="rId2" Type="http://schemas.openxmlformats.org/officeDocument/2006/relationships/image" Target="../media/image19.png" /><Relationship Id="rId1" Type="http://schemas.openxmlformats.org/officeDocument/2006/relationships/slideLayout" Target="../slideLayouts/slideLayout2.xml" 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 /><Relationship Id="rId2" Type="http://schemas.openxmlformats.org/officeDocument/2006/relationships/image" Target="../media/image21.png" /><Relationship Id="rId1" Type="http://schemas.openxmlformats.org/officeDocument/2006/relationships/slideLayout" Target="../slideLayouts/slideLayout2.xml" 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 /><Relationship Id="rId2" Type="http://schemas.openxmlformats.org/officeDocument/2006/relationships/image" Target="../media/image23.png" /><Relationship Id="rId1" Type="http://schemas.openxmlformats.org/officeDocument/2006/relationships/slideLayout" Target="../slideLayouts/slideLayout2.xml" 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 /><Relationship Id="rId1" Type="http://schemas.openxmlformats.org/officeDocument/2006/relationships/slideLayout" Target="../slideLayouts/slideLayout2.xml" 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desertcart.co.za/products/95207484-lab-benchtop-centrifuge-machine-10ml-15ml-x-8-laboratory-prp-centrifuge-with-speed-and-time-lab-low-speed-desktop-centrifugal-machine-100-4000rpm" TargetMode="External" /><Relationship Id="rId3" Type="http://schemas.openxmlformats.org/officeDocument/2006/relationships/image" Target="../media/image26.jpg" /><Relationship Id="rId7" Type="http://schemas.openxmlformats.org/officeDocument/2006/relationships/image" Target="../media/image28.jpe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2.xml" /><Relationship Id="rId6" Type="http://schemas.openxmlformats.org/officeDocument/2006/relationships/hyperlink" Target="https://boisestate.pressbooks.pub/bio191lab/chapter/dilutions-and-pipetting/" TargetMode="External" /><Relationship Id="rId5" Type="http://schemas.openxmlformats.org/officeDocument/2006/relationships/image" Target="../media/image27.png" /><Relationship Id="rId4" Type="http://schemas.openxmlformats.org/officeDocument/2006/relationships/hyperlink" Target="https://en.wikipedia.org/wiki/Pipette" TargetMode="External" 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profilab24.com/en/laboratory/incubators-drying-cabinets/pol-eko-laboratory-incubator-clw" TargetMode="External" /><Relationship Id="rId2" Type="http://schemas.openxmlformats.org/officeDocument/2006/relationships/image" Target="../media/image29.jpeg" /><Relationship Id="rId1" Type="http://schemas.openxmlformats.org/officeDocument/2006/relationships/slideLayout" Target="../slideLayouts/slideLayout2.xml" /><Relationship Id="rId5" Type="http://schemas.openxmlformats.org/officeDocument/2006/relationships/hyperlink" Target="https://www.indiamart.com/proddetail/hot-air-oven-lab-industrial-24123942355.html" TargetMode="External" /><Relationship Id="rId4" Type="http://schemas.openxmlformats.org/officeDocument/2006/relationships/image" Target="../media/image30.jpg" 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abquimed.cl/autoclave" TargetMode="External" /><Relationship Id="rId2" Type="http://schemas.openxmlformats.org/officeDocument/2006/relationships/image" Target="../media/image31.png" /><Relationship Id="rId1" Type="http://schemas.openxmlformats.org/officeDocument/2006/relationships/slideLayout" Target="../slideLayouts/slideLayout2.xml" 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informacionpublica.svet.gob.gt/gyroscope-arduino-uno/laminar-flow-hood-laminar-airflow-workstation-nuaire-mm-mog4NId" TargetMode="External" /><Relationship Id="rId2" Type="http://schemas.openxmlformats.org/officeDocument/2006/relationships/image" Target="../media/image32.jpg" /><Relationship Id="rId1" Type="http://schemas.openxmlformats.org/officeDocument/2006/relationships/slideLayout" Target="../slideLayouts/slideLayout2.xml" /><Relationship Id="rId5" Type="http://schemas.openxmlformats.org/officeDocument/2006/relationships/hyperlink" Target="https://www.vrogue.co/post/what-is-an-inverted-microscope-microscope-clarity" TargetMode="External" /><Relationship Id="rId4" Type="http://schemas.openxmlformats.org/officeDocument/2006/relationships/image" Target="../media/image33.png" 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abrepco.com/product-category/cold-storage-products/laboratory-medical-refrigerators/" TargetMode="External" /><Relationship Id="rId2" Type="http://schemas.openxmlformats.org/officeDocument/2006/relationships/image" Target="../media/image34.jpeg" /><Relationship Id="rId1" Type="http://schemas.openxmlformats.org/officeDocument/2006/relationships/slideLayout" Target="../slideLayouts/slideLayout2.xml" /><Relationship Id="rId5" Type="http://schemas.openxmlformats.org/officeDocument/2006/relationships/hyperlink" Target="https://www.coleparmer.in/p/julabo-sw-series-reciprocal-shaker-water-baths/64021" TargetMode="External" /><Relationship Id="rId4" Type="http://schemas.openxmlformats.org/officeDocument/2006/relationships/image" Target="../media/image35.jpg" 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themasterchemistry.com/spectrophotometer/" TargetMode="External" /><Relationship Id="rId2" Type="http://schemas.openxmlformats.org/officeDocument/2006/relationships/image" Target="../media/image36.png" /><Relationship Id="rId1" Type="http://schemas.openxmlformats.org/officeDocument/2006/relationships/slideLayout" Target="../slideLayouts/slideLayout2.xml" /><Relationship Id="rId5" Type="http://schemas.openxmlformats.org/officeDocument/2006/relationships/hyperlink" Target="https://overallscience.com/applications-of-polymerase-chain-reaction-pcr/" TargetMode="External" /><Relationship Id="rId4" Type="http://schemas.openxmlformats.org/officeDocument/2006/relationships/image" Target="../media/image37.jpeg" 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flow-cytometry.net/what-is-flow-cytometry/" TargetMode="External" /><Relationship Id="rId2" Type="http://schemas.openxmlformats.org/officeDocument/2006/relationships/image" Target="../media/image38.png" /><Relationship Id="rId1" Type="http://schemas.openxmlformats.org/officeDocument/2006/relationships/slideLayout" Target="../slideLayouts/slideLayout2.xml" 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w-uv.com/60GPM-Stainless-Steel-UV-Water-Sterilizer-275W-pd6540454.html" TargetMode="External" /><Relationship Id="rId2" Type="http://schemas.openxmlformats.org/officeDocument/2006/relationships/image" Target="../media/image39.jpeg" /><Relationship Id="rId1" Type="http://schemas.openxmlformats.org/officeDocument/2006/relationships/slideLayout" Target="../slideLayouts/slideLayout2.xml" /><Relationship Id="rId5" Type="http://schemas.openxmlformats.org/officeDocument/2006/relationships/hyperlink" Target="https://sciencecodons.com/2628-disposal-different-types-waste/" TargetMode="External" /><Relationship Id="rId4" Type="http://schemas.openxmlformats.org/officeDocument/2006/relationships/image" Target="../media/image40.png" 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jamaica.desertcart.com/products/648159031-frifreego-combination-eye-wash-station-and-shower-emergency-shower-eyewash-station-osha-approved-stand-plumbing-eye-washing-unit-for-industrial-commercial-lab-use-stainless-steel-npt-threads" TargetMode="External" /><Relationship Id="rId2" Type="http://schemas.openxmlformats.org/officeDocument/2006/relationships/image" Target="../media/image41.jpeg" /><Relationship Id="rId1" Type="http://schemas.openxmlformats.org/officeDocument/2006/relationships/slideLayout" Target="../slideLayouts/slideLayout2.xml" /><Relationship Id="rId5" Type="http://schemas.openxmlformats.org/officeDocument/2006/relationships/hyperlink" Target="https://norfolkfireprotection.co.uk/fire-extinguisher-servicing/extinguishers/" TargetMode="External" /><Relationship Id="rId4" Type="http://schemas.openxmlformats.org/officeDocument/2006/relationships/image" Target="../media/image42.png" 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-1005632" y="4581330"/>
            <a:ext cx="10468864" cy="1828800"/>
          </a:xfrm>
        </p:spPr>
        <p:txBody>
          <a:bodyPr rtlCol="0">
            <a:normAutofit/>
          </a:bodyPr>
          <a:lstStyle/>
          <a:p>
            <a:pPr algn="ctr" rtl="0"/>
            <a:r>
              <a:rPr lang="en-GB" sz="4000" b="1" dirty="0">
                <a:latin typeface="Aptos Black" panose="020F0502020204030204" pitchFamily="34" charset="0"/>
                <a:cs typeface="Times New Roman" panose="02020603050405020304" pitchFamily="18" charset="0"/>
              </a:rPr>
              <a:t>Cell Biology Lab Safety</a:t>
            </a:r>
            <a:br>
              <a:rPr lang="en-GB" sz="4000" b="1" dirty="0">
                <a:latin typeface="Aptos Black" panose="020F0502020204030204" pitchFamily="34" charset="0"/>
                <a:cs typeface="Times New Roman" panose="02020603050405020304" pitchFamily="18" charset="0"/>
              </a:rPr>
            </a:br>
            <a:r>
              <a:rPr lang="en-GB" sz="4000" b="1" dirty="0">
                <a:latin typeface="Aptos Black" panose="020F0502020204030204" pitchFamily="34" charset="0"/>
                <a:cs typeface="Times New Roman" panose="02020603050405020304" pitchFamily="18" charset="0"/>
              </a:rPr>
              <a:t> &amp;</a:t>
            </a:r>
            <a:br>
              <a:rPr lang="en-GB" sz="4000" b="1" dirty="0">
                <a:latin typeface="Aptos Black" panose="020F0502020204030204" pitchFamily="34" charset="0"/>
                <a:cs typeface="Times New Roman" panose="02020603050405020304" pitchFamily="18" charset="0"/>
              </a:rPr>
            </a:br>
            <a:r>
              <a:rPr lang="en-GB" sz="4000" b="1" dirty="0">
                <a:latin typeface="Aptos Black" panose="020F0502020204030204" pitchFamily="34" charset="0"/>
                <a:cs typeface="Times New Roman" panose="02020603050405020304" pitchFamily="18" charset="0"/>
              </a:rPr>
              <a:t> Equipment</a:t>
            </a:r>
          </a:p>
        </p:txBody>
      </p:sp>
    </p:spTree>
    <p:extLst>
      <p:ext uri="{BB962C8B-B14F-4D97-AF65-F5344CB8AC3E}">
        <p14:creationId xmlns:p14="http://schemas.microsoft.com/office/powerpoint/2010/main" val="3549628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b="1" dirty="0"/>
              <a:t>Lab Safety in Cell Biology</a:t>
            </a:r>
          </a:p>
        </p:txBody>
      </p:sp>
      <p:sp>
        <p:nvSpPr>
          <p:cNvPr id="4" name="Flowchart: Punched Tape 3">
            <a:extLst>
              <a:ext uri="{FF2B5EF4-FFF2-40B4-BE49-F238E27FC236}">
                <a16:creationId xmlns:a16="http://schemas.microsoft.com/office/drawing/2014/main" id="{088A414B-9B41-B3CD-8376-4A29452222CB}"/>
              </a:ext>
            </a:extLst>
          </p:cNvPr>
          <p:cNvSpPr/>
          <p:nvPr/>
        </p:nvSpPr>
        <p:spPr>
          <a:xfrm>
            <a:off x="755780" y="2901820"/>
            <a:ext cx="3097763" cy="2453951"/>
          </a:xfrm>
          <a:prstGeom prst="flowChartPunchedTap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3200" b="1" dirty="0"/>
              <a:t>Lab Safety in Cell Biology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318806C-450F-2AE3-428A-B3B2539ABEA6}"/>
              </a:ext>
            </a:extLst>
          </p:cNvPr>
          <p:cNvCxnSpPr>
            <a:cxnSpLocks/>
          </p:cNvCxnSpPr>
          <p:nvPr/>
        </p:nvCxnSpPr>
        <p:spPr>
          <a:xfrm flipV="1">
            <a:off x="4212771" y="2516259"/>
            <a:ext cx="2985796" cy="1133669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E5BFF8C-A802-B72E-F78D-29B5196F236F}"/>
              </a:ext>
            </a:extLst>
          </p:cNvPr>
          <p:cNvCxnSpPr>
            <a:cxnSpLocks/>
          </p:cNvCxnSpPr>
          <p:nvPr/>
        </p:nvCxnSpPr>
        <p:spPr>
          <a:xfrm flipV="1">
            <a:off x="4251651" y="3533495"/>
            <a:ext cx="3163077" cy="116433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4E8A5A6-9A4F-3340-A0CD-FC7E752F0B46}"/>
              </a:ext>
            </a:extLst>
          </p:cNvPr>
          <p:cNvCxnSpPr>
            <a:cxnSpLocks/>
          </p:cNvCxnSpPr>
          <p:nvPr/>
        </p:nvCxnSpPr>
        <p:spPr>
          <a:xfrm>
            <a:off x="4212771" y="3645494"/>
            <a:ext cx="3136643" cy="572997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A0041FF-C53D-150E-770E-DD973A31AC52}"/>
              </a:ext>
            </a:extLst>
          </p:cNvPr>
          <p:cNvSpPr txBox="1"/>
          <p:nvPr/>
        </p:nvSpPr>
        <p:spPr>
          <a:xfrm>
            <a:off x="7301205" y="2495939"/>
            <a:ext cx="3121088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en-GB" b="1" dirty="0"/>
              <a:t>General Safety Rules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CC0A352-211E-2CEF-1D8B-03947F449AF6}"/>
              </a:ext>
            </a:extLst>
          </p:cNvPr>
          <p:cNvSpPr txBox="1"/>
          <p:nvPr/>
        </p:nvSpPr>
        <p:spPr>
          <a:xfrm>
            <a:off x="7480040" y="3329456"/>
            <a:ext cx="2942253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en-GB" b="1" dirty="0"/>
              <a:t>Biological Safety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789AF16-E511-FE48-2509-BFF225CFB0A2}"/>
              </a:ext>
            </a:extLst>
          </p:cNvPr>
          <p:cNvSpPr txBox="1"/>
          <p:nvPr/>
        </p:nvSpPr>
        <p:spPr>
          <a:xfrm>
            <a:off x="7480041" y="4150226"/>
            <a:ext cx="2942253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en-GB" b="1" dirty="0"/>
              <a:t>Chemical Safety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48678FD-8E26-6738-C526-CF345B83C6BA}"/>
              </a:ext>
            </a:extLst>
          </p:cNvPr>
          <p:cNvCxnSpPr>
            <a:cxnSpLocks/>
          </p:cNvCxnSpPr>
          <p:nvPr/>
        </p:nvCxnSpPr>
        <p:spPr>
          <a:xfrm>
            <a:off x="4212771" y="3619416"/>
            <a:ext cx="3103985" cy="1551689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A3BFC2B0-19A1-B192-32AE-E7164BC874BA}"/>
              </a:ext>
            </a:extLst>
          </p:cNvPr>
          <p:cNvSpPr txBox="1"/>
          <p:nvPr/>
        </p:nvSpPr>
        <p:spPr>
          <a:xfrm>
            <a:off x="7431056" y="5064950"/>
            <a:ext cx="2991239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en-GB" b="1" dirty="0"/>
              <a:t>Sharps &amp; Glassware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0C8EE57-0654-68CD-C939-6FE64404F6D5}"/>
              </a:ext>
            </a:extLst>
          </p:cNvPr>
          <p:cNvCxnSpPr/>
          <p:nvPr/>
        </p:nvCxnSpPr>
        <p:spPr>
          <a:xfrm>
            <a:off x="4229099" y="3645494"/>
            <a:ext cx="3201957" cy="2702012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8CC998D3-058C-C027-08A4-317D066D5811}"/>
              </a:ext>
            </a:extLst>
          </p:cNvPr>
          <p:cNvSpPr txBox="1"/>
          <p:nvPr/>
        </p:nvSpPr>
        <p:spPr>
          <a:xfrm>
            <a:off x="7414729" y="6137940"/>
            <a:ext cx="3007566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en-GB" b="1" dirty="0"/>
              <a:t>Emergency Preparedness</a:t>
            </a:r>
          </a:p>
        </p:txBody>
      </p:sp>
    </p:spTree>
    <p:extLst>
      <p:ext uri="{BB962C8B-B14F-4D97-AF65-F5344CB8AC3E}">
        <p14:creationId xmlns:p14="http://schemas.microsoft.com/office/powerpoint/2010/main" val="150891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D5E8360-A691-DDF3-8999-D97EF662F2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117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en-GB" sz="4000" b="1" dirty="0"/>
              <a:t>1. General Safety Rules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rtl="0">
              <a:buFont typeface="Wingdings" panose="05000000000000000000" pitchFamily="2" charset="2"/>
              <a:buChar char="§"/>
            </a:pPr>
            <a:r>
              <a:rPr lang="en-GB" sz="2800" dirty="0"/>
              <a:t>Wear a lab coat, gloves, and safety goggles at all times.</a:t>
            </a:r>
          </a:p>
          <a:p>
            <a:pPr rtl="0">
              <a:buFont typeface="Wingdings" panose="05000000000000000000" pitchFamily="2" charset="2"/>
              <a:buChar char="§"/>
            </a:pPr>
            <a:r>
              <a:rPr lang="en-GB" sz="2800" dirty="0"/>
              <a:t>Tie back long hair and avoid loose clothing/</a:t>
            </a:r>
            <a:r>
              <a:rPr lang="en-GB" sz="2800" dirty="0" err="1"/>
              <a:t>jewelry</a:t>
            </a:r>
            <a:r>
              <a:rPr lang="en-GB" sz="2800" dirty="0"/>
              <a:t>.</a:t>
            </a:r>
          </a:p>
          <a:p>
            <a:pPr rtl="0">
              <a:buFont typeface="Wingdings" panose="05000000000000000000" pitchFamily="2" charset="2"/>
              <a:buChar char="§"/>
            </a:pPr>
            <a:r>
              <a:rPr lang="en-GB" sz="2800" dirty="0"/>
              <a:t>Do not eat, drink, or apply cosmetics in the lab.</a:t>
            </a:r>
          </a:p>
          <a:p>
            <a:pPr rtl="0">
              <a:buFont typeface="Wingdings" panose="05000000000000000000" pitchFamily="2" charset="2"/>
              <a:buChar char="§"/>
            </a:pPr>
            <a:r>
              <a:rPr lang="en-GB" sz="2800" dirty="0"/>
              <a:t>Label all reagents, media, and samples properly.</a:t>
            </a:r>
          </a:p>
          <a:p>
            <a:pPr rtl="0">
              <a:buFont typeface="Wingdings" panose="05000000000000000000" pitchFamily="2" charset="2"/>
              <a:buChar char="§"/>
            </a:pPr>
            <a:r>
              <a:rPr lang="en-GB" sz="2800" dirty="0"/>
              <a:t>Wash hands before and after lab work. </a:t>
            </a:r>
          </a:p>
          <a:p>
            <a:pPr rtl="0">
              <a:buFont typeface="Wingdings" panose="05000000000000000000" pitchFamily="2" charset="2"/>
              <a:buChar char="§"/>
            </a:pPr>
            <a:r>
              <a:rPr lang="en-GB" sz="2800" dirty="0"/>
              <a:t>Know the location of emergency equipment (fire extinguisher, eyewash, shower, first aid kit).</a:t>
            </a:r>
          </a:p>
          <a:p>
            <a:pPr rtl="0"/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3339554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C1D2C-6A4A-BF2B-9D52-FBF9A31CC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General Safety Rules</a:t>
            </a:r>
          </a:p>
        </p:txBody>
      </p:sp>
      <p:pic>
        <p:nvPicPr>
          <p:cNvPr id="5" name="Content Placeholder 4" descr="A white lab coat with a white background&#10;&#10;AI-generated content may be incorrect.">
            <a:extLst>
              <a:ext uri="{FF2B5EF4-FFF2-40B4-BE49-F238E27FC236}">
                <a16:creationId xmlns:a16="http://schemas.microsoft.com/office/drawing/2014/main" id="{EC0DC973-9FAB-2351-5AD9-B0E2C05344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37620" y="2084832"/>
            <a:ext cx="2752029" cy="4259984"/>
          </a:xfrm>
        </p:spPr>
      </p:pic>
      <p:pic>
        <p:nvPicPr>
          <p:cNvPr id="7" name="Picture 6" descr="A pair of blue gloves&#10;&#10;AI-generated content may be incorrect.">
            <a:extLst>
              <a:ext uri="{FF2B5EF4-FFF2-40B4-BE49-F238E27FC236}">
                <a16:creationId xmlns:a16="http://schemas.microsoft.com/office/drawing/2014/main" id="{795B7988-ED0F-F754-7CCD-A23DB4A382B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3489649" y="2951085"/>
            <a:ext cx="2606351" cy="306865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E2593F4-168A-85A8-8B43-596EB66A39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0418" y="1746875"/>
            <a:ext cx="2606351" cy="2773245"/>
          </a:xfrm>
          <a:prstGeom prst="rect">
            <a:avLst/>
          </a:prstGeom>
        </p:spPr>
      </p:pic>
      <p:pic>
        <p:nvPicPr>
          <p:cNvPr id="10" name="Picture 9" descr="A no food or drink in the lab&#10;&#10;AI-generated content may be incorrect.">
            <a:extLst>
              <a:ext uri="{FF2B5EF4-FFF2-40B4-BE49-F238E27FC236}">
                <a16:creationId xmlns:a16="http://schemas.microsoft.com/office/drawing/2014/main" id="{3EFD04B1-7B82-3C64-A350-F880F3CDF91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8928895" y="585216"/>
            <a:ext cx="2525485" cy="236586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830FD41-3F3C-6170-8BBF-1B7FAA19C43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39959" y="4068704"/>
            <a:ext cx="2863192" cy="2105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164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en-GB" sz="4000" b="1" dirty="0"/>
              <a:t>2. Biological Safety 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22912" y="1912775"/>
            <a:ext cx="5936508" cy="4739952"/>
          </a:xfrm>
        </p:spPr>
        <p:txBody>
          <a:bodyPr rtlCol="0">
            <a:normAutofit/>
          </a:bodyPr>
          <a:lstStyle/>
          <a:p>
            <a:pPr rtl="0">
              <a:buFont typeface="Wingdings" panose="05000000000000000000" pitchFamily="2" charset="2"/>
              <a:buChar char="§"/>
            </a:pPr>
            <a:r>
              <a:rPr lang="en-GB" sz="2800" dirty="0"/>
              <a:t>Work in a biosafety cabinet (laminar flow hood) when handling cells or microorganisms.</a:t>
            </a:r>
          </a:p>
          <a:p>
            <a:pPr rtl="0">
              <a:buFont typeface="Wingdings" panose="05000000000000000000" pitchFamily="2" charset="2"/>
              <a:buChar char="§"/>
            </a:pPr>
            <a:r>
              <a:rPr lang="en-GB" sz="2800" dirty="0"/>
              <a:t>Disinfect surfaces before and after experiments (e.g., with 70% ethanol).</a:t>
            </a:r>
          </a:p>
          <a:p>
            <a:pPr rtl="0">
              <a:buFont typeface="Wingdings" panose="05000000000000000000" pitchFamily="2" charset="2"/>
              <a:buChar char="§"/>
            </a:pPr>
            <a:r>
              <a:rPr lang="en-GB" sz="2800" dirty="0"/>
              <a:t>Dispose of biological waste in biohazard containers and autoclave before discarding.</a:t>
            </a:r>
          </a:p>
          <a:p>
            <a:pPr rtl="0">
              <a:buFont typeface="Wingdings" panose="05000000000000000000" pitchFamily="2" charset="2"/>
              <a:buChar char="§"/>
            </a:pPr>
            <a:r>
              <a:rPr lang="en-GB" sz="2800" dirty="0"/>
              <a:t>Avoid aerosol generation when pipetting.</a:t>
            </a:r>
          </a:p>
        </p:txBody>
      </p:sp>
      <p:pic>
        <p:nvPicPr>
          <p:cNvPr id="5" name="Picture 4" descr="Several safety cabinets with a blue and white cover&#10;&#10;AI-generated content may be incorrect.">
            <a:extLst>
              <a:ext uri="{FF2B5EF4-FFF2-40B4-BE49-F238E27FC236}">
                <a16:creationId xmlns:a16="http://schemas.microsoft.com/office/drawing/2014/main" id="{302B0C66-589F-C0D8-4D51-5093E5094B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6960636" y="585216"/>
            <a:ext cx="4923304" cy="595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85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54519-0918-9817-2B6B-897255B10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0100709-DA50-DC8F-C52D-64126BF97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en-GB" sz="4000" b="1" dirty="0"/>
              <a:t>3. Chemical Safety 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63AC71A-A4E1-4CE5-9306-2E64E7640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756" y="1800808"/>
            <a:ext cx="6260840" cy="4786604"/>
          </a:xfrm>
        </p:spPr>
        <p:txBody>
          <a:bodyPr rtlCol="0">
            <a:normAutofit/>
          </a:bodyPr>
          <a:lstStyle/>
          <a:p>
            <a:pPr rtl="0">
              <a:buFont typeface="Wingdings" panose="05000000000000000000" pitchFamily="2" charset="2"/>
              <a:buChar char="§"/>
            </a:pPr>
            <a:r>
              <a:rPr lang="en-GB" sz="2800" dirty="0"/>
              <a:t>Handle toxic reagents (e.g., formaldehyde, ethanol, staining dyes) in a fume hood.</a:t>
            </a:r>
          </a:p>
          <a:p>
            <a:pPr rtl="0">
              <a:buFont typeface="Wingdings" panose="05000000000000000000" pitchFamily="2" charset="2"/>
              <a:buChar char="§"/>
            </a:pPr>
            <a:r>
              <a:rPr lang="en-GB" sz="2800" dirty="0"/>
              <a:t>Store flammable materials properly in fire-proof cabinets.</a:t>
            </a:r>
          </a:p>
          <a:p>
            <a:pPr rtl="0">
              <a:buFont typeface="Wingdings" panose="05000000000000000000" pitchFamily="2" charset="2"/>
              <a:buChar char="§"/>
            </a:pPr>
            <a:r>
              <a:rPr lang="en-GB" sz="2800" dirty="0"/>
              <a:t>Follow MSDS (Material Safety Data Sheets) for each chemical.</a:t>
            </a:r>
          </a:p>
        </p:txBody>
      </p:sp>
      <p:pic>
        <p:nvPicPr>
          <p:cNvPr id="5" name="Picture 4" descr="A collection of warning signs&#10;&#10;AI-generated content may be incorrect.">
            <a:extLst>
              <a:ext uri="{FF2B5EF4-FFF2-40B4-BE49-F238E27FC236}">
                <a16:creationId xmlns:a16="http://schemas.microsoft.com/office/drawing/2014/main" id="{650BDBB0-BE99-913D-D2B9-15E7F2CA95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7100596" y="585216"/>
            <a:ext cx="4957048" cy="6174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554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80165-0FE8-7FD8-7F05-EC7576C8A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EEB630-FC98-F0BC-156B-D73F16948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en-GB" sz="4000" b="1" dirty="0"/>
              <a:t>4. Sharps &amp; Glassware 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CD43417-2A30-217F-C878-64F9BEE8BD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5628599" cy="4023360"/>
          </a:xfrm>
        </p:spPr>
        <p:txBody>
          <a:bodyPr rtlCol="0">
            <a:normAutofit/>
          </a:bodyPr>
          <a:lstStyle/>
          <a:p>
            <a:pPr rtl="0">
              <a:buFont typeface="Wingdings" panose="05000000000000000000" pitchFamily="2" charset="2"/>
              <a:buChar char="§"/>
            </a:pPr>
            <a:r>
              <a:rPr lang="en-GB" sz="2800" dirty="0"/>
              <a:t>Dispose of needles and blades in sharps containers.</a:t>
            </a:r>
          </a:p>
          <a:p>
            <a:pPr rtl="0">
              <a:buFont typeface="Wingdings" panose="05000000000000000000" pitchFamily="2" charset="2"/>
              <a:buChar char="§"/>
            </a:pPr>
            <a:r>
              <a:rPr lang="en-GB" sz="2800" dirty="0"/>
              <a:t>Handle glass pipettes and slides carefully to avoid cuts.</a:t>
            </a:r>
          </a:p>
        </p:txBody>
      </p:sp>
      <p:pic>
        <p:nvPicPr>
          <p:cNvPr id="5" name="Picture 4" descr="A hand in a glove putting a syringe into a red container&#10;&#10;AI-generated content may be incorrect.">
            <a:extLst>
              <a:ext uri="{FF2B5EF4-FFF2-40B4-BE49-F238E27FC236}">
                <a16:creationId xmlns:a16="http://schemas.microsoft.com/office/drawing/2014/main" id="{F8CA4C97-4E8C-FC65-A8D7-756BBEBB18C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6959765" y="585216"/>
            <a:ext cx="5030071" cy="6048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537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5B447-675F-9B93-2543-A77A68623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0680685-07C3-340C-8616-49A185964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en-GB" sz="4000" b="1" dirty="0"/>
              <a:t>5. Emergency Preparedness 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6BC82CB-20ED-7274-07D7-426549577D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rtl="0">
              <a:buFont typeface="Wingdings" panose="05000000000000000000" pitchFamily="2" charset="2"/>
              <a:buChar char="§"/>
            </a:pPr>
            <a:r>
              <a:rPr lang="en-GB" sz="2800" dirty="0"/>
              <a:t>Know spill-cleanup procedures (biological vs. chemical).</a:t>
            </a:r>
          </a:p>
          <a:p>
            <a:pPr rtl="0">
              <a:buFont typeface="Wingdings" panose="05000000000000000000" pitchFamily="2" charset="2"/>
              <a:buChar char="§"/>
            </a:pPr>
            <a:r>
              <a:rPr lang="en-GB" sz="2800" dirty="0"/>
              <a:t>Report accidents immediately.</a:t>
            </a:r>
          </a:p>
          <a:p>
            <a:pPr rtl="0">
              <a:buFont typeface="Wingdings" panose="05000000000000000000" pitchFamily="2" charset="2"/>
              <a:buChar char="§"/>
            </a:pPr>
            <a:r>
              <a:rPr lang="en-GB" sz="2800" dirty="0"/>
              <a:t>Follow institutional biosafety and chemical safety guidelines.</a:t>
            </a:r>
          </a:p>
        </p:txBody>
      </p:sp>
    </p:spTree>
    <p:extLst>
      <p:ext uri="{BB962C8B-B14F-4D97-AF65-F5344CB8AC3E}">
        <p14:creationId xmlns:p14="http://schemas.microsoft.com/office/powerpoint/2010/main" val="165103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lowchart: Punched Tape 7">
            <a:extLst>
              <a:ext uri="{FF2B5EF4-FFF2-40B4-BE49-F238E27FC236}">
                <a16:creationId xmlns:a16="http://schemas.microsoft.com/office/drawing/2014/main" id="{BDE769E9-D7AA-F15B-A23E-E4C491A686CE}"/>
              </a:ext>
            </a:extLst>
          </p:cNvPr>
          <p:cNvSpPr/>
          <p:nvPr/>
        </p:nvSpPr>
        <p:spPr>
          <a:xfrm>
            <a:off x="531845" y="2341984"/>
            <a:ext cx="3489649" cy="1978089"/>
          </a:xfrm>
          <a:prstGeom prst="flowChartPunchedTap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b="1" dirty="0"/>
              <a:t>Common Equipment in a Cell Biology Lab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717B80E-FDDE-5849-B5BF-706C304F639A}"/>
              </a:ext>
            </a:extLst>
          </p:cNvPr>
          <p:cNvCxnSpPr>
            <a:cxnSpLocks/>
          </p:cNvCxnSpPr>
          <p:nvPr/>
        </p:nvCxnSpPr>
        <p:spPr>
          <a:xfrm flipV="1">
            <a:off x="4021494" y="1893532"/>
            <a:ext cx="3284375" cy="1575124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A627C04-00C1-E5BF-D8F9-4E32E3DF4354}"/>
              </a:ext>
            </a:extLst>
          </p:cNvPr>
          <p:cNvCxnSpPr>
            <a:cxnSpLocks/>
          </p:cNvCxnSpPr>
          <p:nvPr/>
        </p:nvCxnSpPr>
        <p:spPr>
          <a:xfrm flipV="1">
            <a:off x="4021494" y="2965968"/>
            <a:ext cx="3671596" cy="503852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20D892B-48F4-08BC-16E7-AF32202A09F0}"/>
              </a:ext>
            </a:extLst>
          </p:cNvPr>
          <p:cNvCxnSpPr>
            <a:cxnSpLocks/>
          </p:cNvCxnSpPr>
          <p:nvPr/>
        </p:nvCxnSpPr>
        <p:spPr>
          <a:xfrm>
            <a:off x="4058816" y="3468656"/>
            <a:ext cx="3937518" cy="6204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DBA8FB5-B604-C3DD-0499-26144457E2E9}"/>
              </a:ext>
            </a:extLst>
          </p:cNvPr>
          <p:cNvCxnSpPr/>
          <p:nvPr/>
        </p:nvCxnSpPr>
        <p:spPr>
          <a:xfrm>
            <a:off x="4021494" y="3487317"/>
            <a:ext cx="3452327" cy="1884784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0B89A3D-2A6E-40E8-3E63-64D3867829F1}"/>
              </a:ext>
            </a:extLst>
          </p:cNvPr>
          <p:cNvSpPr txBox="1"/>
          <p:nvPr/>
        </p:nvSpPr>
        <p:spPr>
          <a:xfrm>
            <a:off x="7305869" y="1683008"/>
            <a:ext cx="2878493" cy="461665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en-GB" sz="2400" b="1" dirty="0"/>
              <a:t>Basic Lab Equipment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F5F630C-EDC2-8BF7-2D84-E08F8E0D7B32}"/>
              </a:ext>
            </a:extLst>
          </p:cNvPr>
          <p:cNvSpPr txBox="1"/>
          <p:nvPr/>
        </p:nvSpPr>
        <p:spPr>
          <a:xfrm>
            <a:off x="7907693" y="2747771"/>
            <a:ext cx="3354355" cy="461665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en-GB" dirty="0"/>
              <a:t> </a:t>
            </a:r>
            <a:r>
              <a:rPr lang="en-GB" sz="2400" b="1" dirty="0"/>
              <a:t>Cell Culture Equipment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E92951C-1069-C05F-D3E5-F05C0466ADE6}"/>
              </a:ext>
            </a:extLst>
          </p:cNvPr>
          <p:cNvSpPr txBox="1"/>
          <p:nvPr/>
        </p:nvSpPr>
        <p:spPr>
          <a:xfrm>
            <a:off x="8033657" y="3967603"/>
            <a:ext cx="3354354" cy="461665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en-GB" dirty="0"/>
              <a:t> </a:t>
            </a:r>
            <a:r>
              <a:rPr lang="en-GB" sz="2400" b="1" dirty="0"/>
              <a:t>Analytical Equipment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9FE16C7-20E8-69D1-10D9-90CF20932918}"/>
              </a:ext>
            </a:extLst>
          </p:cNvPr>
          <p:cNvSpPr txBox="1"/>
          <p:nvPr/>
        </p:nvSpPr>
        <p:spPr>
          <a:xfrm>
            <a:off x="7577622" y="5112719"/>
            <a:ext cx="4266424" cy="830997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en-GB" dirty="0"/>
              <a:t> </a:t>
            </a:r>
            <a:r>
              <a:rPr lang="en-GB" sz="2400" b="1" dirty="0"/>
              <a:t>Sterilization &amp; Safety Equipment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1D40E52E-923F-EB87-5136-4F2494CE0557}"/>
              </a:ext>
            </a:extLst>
          </p:cNvPr>
          <p:cNvCxnSpPr>
            <a:cxnSpLocks/>
          </p:cNvCxnSpPr>
          <p:nvPr/>
        </p:nvCxnSpPr>
        <p:spPr>
          <a:xfrm flipV="1">
            <a:off x="4021493" y="1091682"/>
            <a:ext cx="2612572" cy="2395635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6CABE5A-D27C-7430-0917-8949ADBED388}"/>
              </a:ext>
            </a:extLst>
          </p:cNvPr>
          <p:cNvSpPr txBox="1"/>
          <p:nvPr/>
        </p:nvSpPr>
        <p:spPr>
          <a:xfrm>
            <a:off x="6634065" y="914284"/>
            <a:ext cx="2878493" cy="461665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en-GB" sz="2400" b="1" dirty="0"/>
              <a:t>Microscopy</a:t>
            </a:r>
          </a:p>
        </p:txBody>
      </p:sp>
    </p:spTree>
    <p:extLst>
      <p:ext uri="{BB962C8B-B14F-4D97-AF65-F5344CB8AC3E}">
        <p14:creationId xmlns:p14="http://schemas.microsoft.com/office/powerpoint/2010/main" val="3252008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03956-24D6-9A89-96EB-4E4A2061C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Microscopy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19C33C-A756-70A8-ECC8-D4A29B657A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400" dirty="0"/>
              <a:t>Microscope (micro- = “small”; -scope = “to look at”) is a tool that produces enlarged images of small objects, thus revealing details too small to be seen by the naked eye.</a:t>
            </a:r>
          </a:p>
          <a:p>
            <a:r>
              <a:rPr lang="en-GB" sz="2400" dirty="0"/>
              <a:t>Types of microscopes:</a:t>
            </a:r>
          </a:p>
          <a:p>
            <a:r>
              <a:rPr lang="en-GB" sz="2400" dirty="0"/>
              <a:t>   Microscopes are classified, based on their illumination source, to:</a:t>
            </a:r>
          </a:p>
          <a:p>
            <a:r>
              <a:rPr lang="en-GB" sz="2400" dirty="0"/>
              <a:t> 1. Light (Optical) Microscopes.</a:t>
            </a:r>
          </a:p>
          <a:p>
            <a:r>
              <a:rPr lang="en-GB" sz="2400" dirty="0"/>
              <a:t> 2. Electron Microscopes.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17729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2C5A7-FA9E-9620-683D-7B1F4A747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1. Light (Optical) Microscopes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346A09-56DD-0E9C-276E-6BE88397AF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400" dirty="0"/>
              <a:t>These use visible light which passes and bends through the lens system to magnify specimens. </a:t>
            </a:r>
          </a:p>
          <a:p>
            <a:r>
              <a:rPr lang="en-GB" sz="2400" dirty="0"/>
              <a:t>They allow for magnification of an object approximately up to 400-1000 times depending on whether the high power or oil immersion objective is used.</a:t>
            </a:r>
          </a:p>
          <a:p>
            <a:r>
              <a:rPr lang="en-GB" sz="2400" dirty="0"/>
              <a:t>Types:</a:t>
            </a:r>
          </a:p>
          <a:p>
            <a:r>
              <a:rPr lang="en-GB" sz="2400" dirty="0"/>
              <a:t> A.  Simple Microscopes.</a:t>
            </a:r>
          </a:p>
          <a:p>
            <a:r>
              <a:rPr lang="en-GB" sz="2400" dirty="0"/>
              <a:t> B.  Compound Microscopes.</a:t>
            </a:r>
          </a:p>
          <a:p>
            <a:r>
              <a:rPr lang="en-GB" sz="2400" dirty="0"/>
              <a:t> C.  Specialized Light Microscopes.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87943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15F22-2B84-42AC-499B-1B1BA7007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A.  Simple Microscopes: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B70B8-FEE9-C776-8AE1-2DEA52EF8B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400" dirty="0"/>
              <a:t>Use a single lens for magnification (e.g., magnifying glass). </a:t>
            </a:r>
          </a:p>
          <a:p>
            <a:r>
              <a:rPr lang="en-GB" sz="2400" dirty="0"/>
              <a:t>provide a moderate level of magnification.</a:t>
            </a:r>
          </a:p>
          <a:p>
            <a:r>
              <a:rPr lang="en-GB" sz="2400" dirty="0"/>
              <a:t>Typically have a magnifying power ranging from 10x to 100x. </a:t>
            </a:r>
          </a:p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4A9F6B-5B41-6BFB-1D39-F344FA52B7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1987" y="1335024"/>
            <a:ext cx="3450134" cy="4829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300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F4780-CA2E-4118-5D13-8B9CF5859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B.  Compound Microscopes: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22F1C-6DC2-6E15-20CE-1ACA3E4D39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2286000"/>
            <a:ext cx="6169774" cy="4023360"/>
          </a:xfrm>
        </p:spPr>
        <p:txBody>
          <a:bodyPr/>
          <a:lstStyle/>
          <a:p>
            <a:r>
              <a:rPr lang="en-GB" sz="2400" dirty="0"/>
              <a:t>Employ two sets of lenses (objective and eyepiece) to achieve higher magnification. </a:t>
            </a:r>
          </a:p>
          <a:p>
            <a:r>
              <a:rPr lang="en-GB" sz="2400" dirty="0"/>
              <a:t>A compound microscope's magnifying power is determined by multiplying the magnification of the objective lens by the magnification of the eyepiece lens. </a:t>
            </a:r>
          </a:p>
          <a:p>
            <a:r>
              <a:rPr lang="en-GB" sz="2400" dirty="0"/>
              <a:t>Typical compound microscopes can achieve magnifications ranging from 40x to 1000x, using objective lenses with magnifications like 4x, 10x, 40x, and 100x, combined with a 10x eyepiece. </a:t>
            </a:r>
          </a:p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33AD1C-370F-470F-F453-5006F2374A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2561" y="270587"/>
            <a:ext cx="4084674" cy="6382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213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ED508-463E-60F0-6B42-0CA73DBDC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C.  Specialized Light Microscopes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57A3D-00EA-52BB-B836-ADCF5E809C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400" dirty="0"/>
              <a:t>These are designed to enhance specific aspects of image quality or to visualize samples in unique ways that standard light microscopes cannot.</a:t>
            </a:r>
          </a:p>
          <a:p>
            <a:r>
              <a:rPr lang="en-GB" sz="2400" dirty="0"/>
              <a:t>Include phase contrast and fluorescence microscopes, each using different light properties to visualize specific sample features. </a:t>
            </a:r>
          </a:p>
          <a:p>
            <a:r>
              <a:rPr lang="en-GB" sz="2400" dirty="0"/>
              <a:t>Examples:</a:t>
            </a:r>
          </a:p>
          <a:p>
            <a:r>
              <a:rPr lang="en-GB" sz="2400" dirty="0"/>
              <a:t> I.  Phase contrast microscopes.</a:t>
            </a:r>
          </a:p>
          <a:p>
            <a:r>
              <a:rPr lang="en-GB" sz="2400" dirty="0"/>
              <a:t> II. Fluorescence microscopes.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246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F3E61-9096-7AB9-9AF3-28E7D1DC4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I. Phase contrast microscopes: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AF011-0587-83D0-11C5-ED216EC6D5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400" dirty="0"/>
              <a:t>Used for the examination of unstained specimens.</a:t>
            </a:r>
          </a:p>
          <a:p>
            <a:r>
              <a:rPr lang="en-GB" sz="2400" dirty="0"/>
              <a:t>Unstained living cells absorb practically no light, poor light absorption results in extremely small differences in the intensity distribution in the image. </a:t>
            </a:r>
          </a:p>
          <a:p>
            <a:r>
              <a:rPr lang="en-GB" sz="2400" dirty="0"/>
              <a:t>This makes the cells barely, or not at all, visible in a bright field microscope. </a:t>
            </a:r>
          </a:p>
          <a:p>
            <a:r>
              <a:rPr lang="en-GB" sz="2400" dirty="0"/>
              <a:t>Phase-contrast microscopy is an optical microscopy technique that converts phase shifts in the light passing through a transparent specimen to brightness changes in the image.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73816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6EE1C-0C8D-1180-A49F-76673BAA3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I. Phase contrast microscopes: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06F49A9-2467-9564-5EF8-7FE1749A61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8798" y="2187295"/>
            <a:ext cx="3521153" cy="31218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29E651C-2825-530E-9255-48482902FB6E}"/>
              </a:ext>
            </a:extLst>
          </p:cNvPr>
          <p:cNvSpPr txBox="1"/>
          <p:nvPr/>
        </p:nvSpPr>
        <p:spPr>
          <a:xfrm>
            <a:off x="1218798" y="5564898"/>
            <a:ext cx="386638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/>
              <a:t>Human cheek cells photographed with phase contrast microscope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33BFB4-8F80-045B-D575-49B2D068C9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048" y="2138795"/>
            <a:ext cx="3521154" cy="31703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E9B4E77-7AFB-E07F-777E-39051A157CE4}"/>
              </a:ext>
            </a:extLst>
          </p:cNvPr>
          <p:cNvSpPr txBox="1"/>
          <p:nvPr/>
        </p:nvSpPr>
        <p:spPr>
          <a:xfrm>
            <a:off x="7713895" y="5595675"/>
            <a:ext cx="352115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/>
              <a:t>Euglena sp. photographed with phase contrast microscope</a:t>
            </a:r>
          </a:p>
        </p:txBody>
      </p:sp>
    </p:spTree>
    <p:extLst>
      <p:ext uri="{BB962C8B-B14F-4D97-AF65-F5344CB8AC3E}">
        <p14:creationId xmlns:p14="http://schemas.microsoft.com/office/powerpoint/2010/main" val="2938585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F0ACC-5D3E-0C08-7EE2-E7969E519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II. Fluorescence microscopes: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40EC1-66ED-E5CF-8B70-19796B5F3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912775"/>
            <a:ext cx="6403039" cy="4566125"/>
          </a:xfrm>
        </p:spPr>
        <p:txBody>
          <a:bodyPr>
            <a:normAutofit fontScale="92500" lnSpcReduction="20000"/>
          </a:bodyPr>
          <a:lstStyle/>
          <a:p>
            <a:r>
              <a:rPr lang="en-GB" sz="2600" dirty="0"/>
              <a:t>Fluorescence microscopy utilizes fluorophores, or fluorescent dyes, to stain specimens, allowing for visualization of specific cellular components under a microscope by using an ultraviolet light source. </a:t>
            </a:r>
          </a:p>
          <a:p>
            <a:r>
              <a:rPr lang="en-GB" sz="2600" dirty="0"/>
              <a:t>These fluorophores (fluorochromes) absorb light at a specific wavelength (excitation wavelength), usually UV, and then emit light at a longer, lower-energy wavelength (emission wavelength), creating a bright image against a dark background. </a:t>
            </a:r>
          </a:p>
          <a:p>
            <a:r>
              <a:rPr lang="en-GB" sz="2600" dirty="0"/>
              <a:t>This technique is valuable for studying various biological processes and visualizing specific structures within cells and tissues.  </a:t>
            </a:r>
          </a:p>
          <a:p>
            <a:r>
              <a:rPr lang="en-GB" sz="2600" dirty="0"/>
              <a:t>Common fluorescent dyes include fluorescein and rhodamine.</a:t>
            </a:r>
          </a:p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9AFBD6-1DB7-58B3-4355-FEE98DA2B8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6468" y="1370010"/>
            <a:ext cx="4267570" cy="5108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418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F1C5F-D205-339E-B03D-59A490619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II. Fluorescence microscopes: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60FD98E-321C-BD40-CCE5-778886DBE1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3032" y="2207147"/>
            <a:ext cx="6681795" cy="36579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1ED0E13-8F12-7CFC-4D15-E154115A46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8619" y="1865461"/>
            <a:ext cx="3785944" cy="37615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58D6F14-E652-C836-9CEA-C154490A4DCA}"/>
              </a:ext>
            </a:extLst>
          </p:cNvPr>
          <p:cNvSpPr txBox="1"/>
          <p:nvPr/>
        </p:nvSpPr>
        <p:spPr>
          <a:xfrm>
            <a:off x="8012664" y="5865064"/>
            <a:ext cx="37859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Fluorescent cells: Fixed endothelial cells stained with fluorescent dyes.</a:t>
            </a:r>
          </a:p>
        </p:txBody>
      </p:sp>
    </p:spTree>
    <p:extLst>
      <p:ext uri="{BB962C8B-B14F-4D97-AF65-F5344CB8AC3E}">
        <p14:creationId xmlns:p14="http://schemas.microsoft.com/office/powerpoint/2010/main" val="1597147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DDCA2-13FE-E51C-63C5-15EFFCFA4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2. Electron Microscopes (EM)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6A06B-3BA6-6636-546B-A7DC04979D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978090"/>
            <a:ext cx="9720073" cy="4331270"/>
          </a:xfrm>
        </p:spPr>
        <p:txBody>
          <a:bodyPr>
            <a:normAutofit fontScale="92500"/>
          </a:bodyPr>
          <a:lstStyle/>
          <a:p>
            <a:r>
              <a:rPr lang="en-GB" sz="2400" dirty="0"/>
              <a:t>These use a beam of electrons instead of light to create images. </a:t>
            </a:r>
          </a:p>
          <a:p>
            <a:r>
              <a:rPr lang="en-GB" sz="2400" dirty="0"/>
              <a:t>EMs offer significantly higher magnification and resolution compared to optical microscopes, enabling the visualization of structures at the nanoscale. </a:t>
            </a:r>
          </a:p>
          <a:p>
            <a:r>
              <a:rPr lang="en-GB" sz="2400" dirty="0"/>
              <a:t>Electron microscopes can resolve features that are millions of times smaller than those visible with light microscopes, achieving magnifications of up to 1,000,000x. </a:t>
            </a:r>
          </a:p>
          <a:p>
            <a:r>
              <a:rPr lang="en-GB" sz="2400" dirty="0"/>
              <a:t>The final image is typically projected onto a fluorescent screen which is coated with a material that emits light when struck by electrons, making the image visible.</a:t>
            </a:r>
          </a:p>
          <a:p>
            <a:r>
              <a:rPr lang="en-GB" sz="2400" dirty="0"/>
              <a:t>Types:</a:t>
            </a:r>
          </a:p>
          <a:p>
            <a:r>
              <a:rPr lang="en-GB" sz="2400" dirty="0"/>
              <a:t> A.  Transmission Electron Microscopes.</a:t>
            </a:r>
          </a:p>
          <a:p>
            <a:r>
              <a:rPr lang="en-GB" sz="2400" dirty="0"/>
              <a:t> B.  Scanning Electron Microscopes.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43382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78BA3-C662-C4E9-88E7-D105E6B2A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A. Transmission Electron Microscopes (TEM):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E1E995-AFE8-64A5-59C2-AD28165B18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2286000"/>
            <a:ext cx="5889856" cy="4180114"/>
          </a:xfrm>
        </p:spPr>
        <p:txBody>
          <a:bodyPr/>
          <a:lstStyle/>
          <a:p>
            <a:r>
              <a:rPr lang="en-GB" sz="2400" dirty="0"/>
              <a:t>In TEM, a beam of electrons is transmitted through a very thin specimen.</a:t>
            </a:r>
          </a:p>
          <a:p>
            <a:r>
              <a:rPr lang="en-GB" sz="2400" dirty="0"/>
              <a:t> The electrons that pass through the specimen are used to form an image, revealing the internal structure of the sample. </a:t>
            </a:r>
          </a:p>
          <a:p>
            <a:r>
              <a:rPr lang="en-GB" sz="2400" dirty="0"/>
              <a:t>TEMs are analogous to compound light microscopes and are often used to view thin sections of cells, molecules, and other materials.</a:t>
            </a:r>
          </a:p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FF383F-E6BF-54BC-2DFE-E7E51955D6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7055" y="1690707"/>
            <a:ext cx="3952781" cy="4962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280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25AFD-BDAF-052F-BCC1-6D4005DC0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A. Transmission Electron Microscopes (TEM):</a:t>
            </a:r>
            <a:endParaRPr lang="en-GB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BB81B35-F163-095D-2A7E-1CAFA73C72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4127" y="2198741"/>
            <a:ext cx="4508925" cy="43140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C5A85EB-7DEB-7548-83EE-A851221CC0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8774" y="1610791"/>
            <a:ext cx="3974491" cy="4901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708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CC9BF-11BF-0D65-58BE-D307166F4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A. Transmission Electron Microscopes (TEM):</a:t>
            </a:r>
            <a:endParaRPr lang="en-GB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6E8812A-11E8-2600-9E6A-1DC989682F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5937" y="2296587"/>
            <a:ext cx="4202676" cy="38895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D493FE8-E620-ABEF-6CBE-F5C67777B4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1894" y="2296586"/>
            <a:ext cx="4328922" cy="3889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506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1EC5D-2614-FBDD-D38D-E52DC2D2D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B. Scanning Electron Microscopes (SEM):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6A4F5-FE54-AF98-33FC-F6E945C992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795583"/>
            <a:ext cx="9129568" cy="4739951"/>
          </a:xfrm>
        </p:spPr>
        <p:txBody>
          <a:bodyPr>
            <a:normAutofit/>
          </a:bodyPr>
          <a:lstStyle/>
          <a:p>
            <a:r>
              <a:rPr lang="en-GB" sz="2400" dirty="0"/>
              <a:t>SEM uses a focused electron beam to scan the surface of a specimen. </a:t>
            </a:r>
          </a:p>
          <a:p>
            <a:r>
              <a:rPr lang="en-GB" sz="2400" dirty="0"/>
              <a:t>The electrons that are scattered or emitted from the surface are detected, creating an image that reveals the sample's surface topography and composition. </a:t>
            </a:r>
          </a:p>
          <a:p>
            <a:r>
              <a:rPr lang="en-GB" sz="2400" dirty="0"/>
              <a:t>It is a powerful tool that is capable of producing high-resolution 3D images of a wide range of samples.</a:t>
            </a:r>
          </a:p>
          <a:p>
            <a:r>
              <a:rPr lang="en-GB" sz="2400" dirty="0"/>
              <a:t>Samples are prepared for analysis by applying a thin, conductive layer, typically of gold or other metals on their surface for coating. </a:t>
            </a:r>
          </a:p>
          <a:p>
            <a:r>
              <a:rPr lang="en-GB" sz="2400" dirty="0"/>
              <a:t>This coating prevents charge buildup (charging) from the electron beam and improves signal detection, resulting in clearer, more accurate images.</a:t>
            </a:r>
          </a:p>
          <a:p>
            <a:r>
              <a:rPr lang="en-GB" sz="2400" dirty="0"/>
              <a:t>SEMs are often used to examine the surface features of samples.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87932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50256-3744-880A-9BF9-B095EF31C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B. Scanning Electron Microscopes (SEM):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348122F-80AD-6119-D06A-27A206DE1D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7071" y="2084832"/>
            <a:ext cx="3905161" cy="40227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4041ED0-C4DA-7238-C3C4-EE8A947BFD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03" y="2250059"/>
            <a:ext cx="3779848" cy="402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873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7239B98-C7AB-3BE4-E31B-F0429678C8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056" y="233265"/>
            <a:ext cx="11613887" cy="6391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180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b="1" dirty="0"/>
              <a:t>1. Basic Lab Equipment 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rtl="0"/>
            <a:r>
              <a:rPr lang="en-GB" sz="2400" b="1" dirty="0"/>
              <a:t>Micropipettes &amp; tips </a:t>
            </a:r>
          </a:p>
          <a:p>
            <a:pPr marL="0" indent="0" rtl="0">
              <a:buNone/>
            </a:pPr>
            <a:r>
              <a:rPr lang="en-GB" sz="2400" b="1" dirty="0"/>
              <a:t>- for precise liquid handling.</a:t>
            </a:r>
          </a:p>
          <a:p>
            <a:pPr rtl="0"/>
            <a:endParaRPr lang="en-GB" sz="2400" b="1" dirty="0"/>
          </a:p>
          <a:p>
            <a:pPr rtl="0"/>
            <a:endParaRPr lang="en-GB" sz="2400" dirty="0"/>
          </a:p>
          <a:p>
            <a:pPr marL="0" indent="0" rtl="0">
              <a:buNone/>
            </a:pPr>
            <a:endParaRPr lang="en-GB" sz="2400" dirty="0"/>
          </a:p>
          <a:p>
            <a:pPr marL="0" indent="0" rtl="0">
              <a:buNone/>
            </a:pPr>
            <a:endParaRPr lang="en-GB" sz="2400" dirty="0"/>
          </a:p>
          <a:p>
            <a:pPr rtl="0"/>
            <a:r>
              <a:rPr lang="en-GB" sz="2400" b="1" dirty="0"/>
              <a:t>Centrifuge</a:t>
            </a:r>
          </a:p>
          <a:p>
            <a:pPr marL="0" indent="0" rtl="0">
              <a:buNone/>
            </a:pPr>
            <a:r>
              <a:rPr lang="en-GB" sz="2400" b="1" dirty="0"/>
              <a:t> - separates cells and biomolecules by density.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77F2B9-16AB-FD6A-E18A-0127493B29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685527" y="1991391"/>
            <a:ext cx="2363476" cy="25378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C7C6A48-C9D1-8F98-6262-FDCCB7774C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8354753" y="302758"/>
            <a:ext cx="3551423" cy="337726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8C5B574-34C2-E979-6A60-C653397E3DC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8261130" y="3881191"/>
            <a:ext cx="3645046" cy="2674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453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68274-C9DA-2AF4-0D8B-A02F2CA2AD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2161" y="895738"/>
            <a:ext cx="9720073" cy="5878285"/>
          </a:xfrm>
        </p:spPr>
        <p:txBody>
          <a:bodyPr>
            <a:normAutofit/>
          </a:bodyPr>
          <a:lstStyle/>
          <a:p>
            <a:r>
              <a:rPr lang="en-GB" sz="2400" b="1" dirty="0"/>
              <a:t>- Incubator (CO₂ incubator)</a:t>
            </a:r>
          </a:p>
          <a:p>
            <a:pPr marL="0" indent="0">
              <a:buNone/>
            </a:pPr>
            <a:r>
              <a:rPr lang="en-GB" sz="2400" b="1" dirty="0"/>
              <a:t>maintains temperature, humidity, and CO₂ for cell culture.</a:t>
            </a:r>
          </a:p>
          <a:p>
            <a:pPr marL="0" indent="0">
              <a:buNone/>
            </a:pPr>
            <a:endParaRPr lang="en-GB" sz="2400" b="1" dirty="0"/>
          </a:p>
          <a:p>
            <a:pPr marL="0" indent="0">
              <a:buNone/>
            </a:pPr>
            <a:endParaRPr lang="en-GB" sz="2400" b="1" dirty="0"/>
          </a:p>
          <a:p>
            <a:pPr marL="0" indent="0">
              <a:buNone/>
            </a:pPr>
            <a:endParaRPr lang="en-GB" sz="2400" b="1" dirty="0"/>
          </a:p>
          <a:p>
            <a:r>
              <a:rPr lang="en-GB" sz="2400" b="1" dirty="0"/>
              <a:t>Hot air oven</a:t>
            </a:r>
          </a:p>
          <a:p>
            <a:r>
              <a:rPr lang="en-GB" sz="2400" b="1" dirty="0"/>
              <a:t> - for dry sterilization of glassware. </a:t>
            </a: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B82126-2E78-B69C-1D3F-15C93C31E6D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210940" y="530290"/>
            <a:ext cx="3648268" cy="26701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9655603-4647-2AD3-A50E-56DAB03764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6997960" y="3285154"/>
            <a:ext cx="4541676" cy="3488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680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1C761-85E2-B7AD-7A4D-753A5026D1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00998"/>
            <a:ext cx="10972800" cy="4389120"/>
          </a:xfrm>
        </p:spPr>
        <p:txBody>
          <a:bodyPr>
            <a:normAutofit/>
          </a:bodyPr>
          <a:lstStyle/>
          <a:p>
            <a:r>
              <a:rPr lang="en-GB" sz="2800" b="1" dirty="0"/>
              <a:t>  </a:t>
            </a:r>
            <a:r>
              <a:rPr lang="en-GB" sz="2400" b="1" dirty="0"/>
              <a:t>Autoclave </a:t>
            </a:r>
          </a:p>
          <a:p>
            <a:pPr marL="0" indent="0">
              <a:buNone/>
            </a:pPr>
            <a:r>
              <a:rPr lang="en-GB" sz="2400" b="1" dirty="0"/>
              <a:t>-steam sterilization of media, glassware, and waste.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68C3EF-4549-6276-1772-1EAE5305C48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486260" y="410547"/>
            <a:ext cx="4096140" cy="5980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202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DD475-15A2-3D84-E242-06EA4F5FC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2. Cell Culture Equipment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0730F-1160-C594-C550-00F4886843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GB" sz="2800" b="1" dirty="0"/>
              <a:t>Laminar flow hood / Biosafety cabinet</a:t>
            </a:r>
          </a:p>
          <a:p>
            <a:pPr marL="0" indent="0">
              <a:buNone/>
            </a:pPr>
            <a:r>
              <a:rPr lang="en-GB" sz="2800" b="1" dirty="0"/>
              <a:t> -sterile environment for handling cells.</a:t>
            </a:r>
          </a:p>
          <a:p>
            <a:pPr marL="0" indent="0">
              <a:buNone/>
            </a:pPr>
            <a:endParaRPr lang="en-GB" sz="2800" b="1" dirty="0"/>
          </a:p>
          <a:p>
            <a:pPr marL="0" indent="0">
              <a:buNone/>
            </a:pPr>
            <a:endParaRPr lang="en-GB" sz="2800" b="1" dirty="0"/>
          </a:p>
          <a:p>
            <a:endParaRPr lang="en-GB" sz="2800" b="1" dirty="0"/>
          </a:p>
          <a:p>
            <a:r>
              <a:rPr lang="en-GB" sz="2800" b="1" dirty="0"/>
              <a:t>Inverted microscope </a:t>
            </a:r>
          </a:p>
          <a:p>
            <a:pPr marL="0" indent="0">
              <a:buNone/>
            </a:pPr>
            <a:r>
              <a:rPr lang="en-GB" sz="2800" b="1" dirty="0"/>
              <a:t>-observing cells in culture flasks/dishes.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3C6445-7597-A5CE-7918-C201F98C41C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266922" y="270589"/>
            <a:ext cx="3349690" cy="36669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CE02BE0-0C91-97E9-4EE1-6C41DE76A9C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8332237" y="3788230"/>
            <a:ext cx="3424333" cy="2963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607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3D532-CC7C-E39B-B385-C7ADA9799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5975" y="590627"/>
            <a:ext cx="10972800" cy="4389120"/>
          </a:xfrm>
        </p:spPr>
        <p:txBody>
          <a:bodyPr>
            <a:normAutofit/>
          </a:bodyPr>
          <a:lstStyle/>
          <a:p>
            <a:r>
              <a:rPr lang="en-GB" dirty="0"/>
              <a:t>  </a:t>
            </a:r>
            <a:r>
              <a:rPr lang="en-GB" sz="2800" b="1" dirty="0"/>
              <a:t>Refrigerators &amp; -20°C / -80°C freezers </a:t>
            </a:r>
          </a:p>
          <a:p>
            <a:pPr marL="0" indent="0">
              <a:buNone/>
            </a:pPr>
            <a:r>
              <a:rPr lang="en-GB" sz="2800" b="1" dirty="0"/>
              <a:t>- storing reagents, enzymes, and samples.</a:t>
            </a:r>
          </a:p>
          <a:p>
            <a:endParaRPr lang="en-GB" sz="2800" b="1" dirty="0"/>
          </a:p>
          <a:p>
            <a:pPr marL="0" indent="0">
              <a:buNone/>
            </a:pPr>
            <a:endParaRPr lang="en-GB" sz="2800" b="1" dirty="0"/>
          </a:p>
          <a:p>
            <a:r>
              <a:rPr lang="en-GB" sz="2800" b="1" dirty="0"/>
              <a:t>  Shakers &amp; water baths </a:t>
            </a:r>
          </a:p>
          <a:p>
            <a:pPr marL="0" indent="0">
              <a:buNone/>
            </a:pPr>
            <a:r>
              <a:rPr lang="en-GB" sz="2800" b="1" dirty="0"/>
              <a:t>- mixing and maintaining temperature for cultures/reagents.</a:t>
            </a:r>
          </a:p>
          <a:p>
            <a:endParaRPr lang="en-GB" dirty="0"/>
          </a:p>
        </p:txBody>
      </p:sp>
      <p:pic>
        <p:nvPicPr>
          <p:cNvPr id="5" name="Picture 4" descr="Several white refrigerators&#10;&#10;AI-generated content may be incorrect.">
            <a:extLst>
              <a:ext uri="{FF2B5EF4-FFF2-40B4-BE49-F238E27FC236}">
                <a16:creationId xmlns:a16="http://schemas.microsoft.com/office/drawing/2014/main" id="{376B7F33-A78A-2CC1-2E99-9FF32F54096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572492" y="375119"/>
            <a:ext cx="2773533" cy="3053881"/>
          </a:xfrm>
          <a:prstGeom prst="rect">
            <a:avLst/>
          </a:prstGeom>
        </p:spPr>
      </p:pic>
      <p:pic>
        <p:nvPicPr>
          <p:cNvPr id="7" name="Picture 6" descr="A machine with bottles in it&#10;&#10;AI-generated content may be incorrect.">
            <a:extLst>
              <a:ext uri="{FF2B5EF4-FFF2-40B4-BE49-F238E27FC236}">
                <a16:creationId xmlns:a16="http://schemas.microsoft.com/office/drawing/2014/main" id="{A6F836F6-6957-4EDA-4A78-9A5A520E2A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8158065" y="3937518"/>
            <a:ext cx="3424335" cy="264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584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4A4DF-FED0-5516-1808-D88D6EE5C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3. Analytical Equipment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2812CE-9D64-71A0-23C4-A501CA84D6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800" b="1" dirty="0"/>
              <a:t>Spectrophotometer / Nanodrop </a:t>
            </a:r>
          </a:p>
          <a:p>
            <a:pPr marL="0" indent="0">
              <a:buNone/>
            </a:pPr>
            <a:r>
              <a:rPr lang="en-GB" sz="2800" b="1" dirty="0"/>
              <a:t>- measuring nucleic acids, proteins, and cell density.</a:t>
            </a:r>
          </a:p>
          <a:p>
            <a:endParaRPr lang="en-GB" sz="2800" b="1" dirty="0"/>
          </a:p>
          <a:p>
            <a:pPr marL="0" indent="0">
              <a:buNone/>
            </a:pPr>
            <a:endParaRPr lang="en-GB" sz="2800" b="1" dirty="0"/>
          </a:p>
          <a:p>
            <a:r>
              <a:rPr lang="en-GB" sz="2800" b="1" dirty="0"/>
              <a:t>Western blot, PCR, electrophoresis units</a:t>
            </a:r>
          </a:p>
          <a:p>
            <a:pPr marL="0" indent="0">
              <a:buNone/>
            </a:pPr>
            <a:r>
              <a:rPr lang="en-GB" sz="2800" b="1" dirty="0"/>
              <a:t> -for molecular studies in cell biology.</a:t>
            </a:r>
          </a:p>
          <a:p>
            <a:endParaRPr lang="en-GB" dirty="0"/>
          </a:p>
        </p:txBody>
      </p:sp>
      <p:pic>
        <p:nvPicPr>
          <p:cNvPr id="5" name="Picture 4" descr="A hand holding a glass&#10;&#10;AI-generated content may be incorrect.">
            <a:extLst>
              <a:ext uri="{FF2B5EF4-FFF2-40B4-BE49-F238E27FC236}">
                <a16:creationId xmlns:a16="http://schemas.microsoft.com/office/drawing/2014/main" id="{7FD38E77-2CD7-80EC-9837-AEB619182C9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708571" y="442450"/>
            <a:ext cx="3215951" cy="3103184"/>
          </a:xfrm>
          <a:prstGeom prst="rect">
            <a:avLst/>
          </a:prstGeom>
        </p:spPr>
      </p:pic>
      <p:pic>
        <p:nvPicPr>
          <p:cNvPr id="7" name="Picture 6" descr="A person holding a plastic tray&#10;&#10;AI-generated content may be incorrect.">
            <a:extLst>
              <a:ext uri="{FF2B5EF4-FFF2-40B4-BE49-F238E27FC236}">
                <a16:creationId xmlns:a16="http://schemas.microsoft.com/office/drawing/2014/main" id="{5ABC71A2-9BD2-B621-47D5-F29A4FF23EA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7891293" y="3904084"/>
            <a:ext cx="3946574" cy="2511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252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060581-97D0-525C-D2D9-50B3A87BF4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5543" y="1166327"/>
            <a:ext cx="10972800" cy="4389120"/>
          </a:xfrm>
        </p:spPr>
        <p:txBody>
          <a:bodyPr/>
          <a:lstStyle/>
          <a:p>
            <a:r>
              <a:rPr lang="en-GB" dirty="0"/>
              <a:t>      </a:t>
            </a:r>
            <a:r>
              <a:rPr lang="en-GB" sz="2800" b="1" dirty="0"/>
              <a:t>Flow cytometer</a:t>
            </a:r>
          </a:p>
          <a:p>
            <a:pPr marL="0" indent="0">
              <a:buNone/>
            </a:pPr>
            <a:r>
              <a:rPr lang="en-GB" sz="2800" b="1" dirty="0"/>
              <a:t> - </a:t>
            </a:r>
            <a:r>
              <a:rPr lang="en-GB" sz="2800" b="1" dirty="0" err="1"/>
              <a:t>analyzing</a:t>
            </a:r>
            <a:r>
              <a:rPr lang="en-GB" sz="2800" b="1" dirty="0"/>
              <a:t> cell populations.</a:t>
            </a:r>
          </a:p>
        </p:txBody>
      </p:sp>
      <p:pic>
        <p:nvPicPr>
          <p:cNvPr id="5" name="Picture 4" descr="A machine with two monitors&#10;&#10;AI-generated content may be incorrect.">
            <a:extLst>
              <a:ext uri="{FF2B5EF4-FFF2-40B4-BE49-F238E27FC236}">
                <a16:creationId xmlns:a16="http://schemas.microsoft.com/office/drawing/2014/main" id="{E5911012-9873-4C30-A997-01FB7ADDCD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918551" y="1166327"/>
            <a:ext cx="4663849" cy="5159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79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6DEFD-47B2-2196-92C0-CB853D100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4. Sterilization &amp; Safety Equipment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FA4ABB-1D67-A392-A388-6CD619953F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800808"/>
            <a:ext cx="9720073" cy="4508552"/>
          </a:xfrm>
        </p:spPr>
        <p:txBody>
          <a:bodyPr>
            <a:normAutofit/>
          </a:bodyPr>
          <a:lstStyle/>
          <a:p>
            <a:r>
              <a:rPr lang="en-GB" sz="2800" b="1" dirty="0"/>
              <a:t>UV sterilizer </a:t>
            </a:r>
          </a:p>
          <a:p>
            <a:pPr marL="0" indent="0">
              <a:buNone/>
            </a:pPr>
            <a:r>
              <a:rPr lang="en-GB" sz="2800" b="1" dirty="0"/>
              <a:t>-surface sterilization of tools and cabinets.</a:t>
            </a:r>
          </a:p>
          <a:p>
            <a:endParaRPr lang="en-GB" sz="2800" b="1" dirty="0"/>
          </a:p>
          <a:p>
            <a:pPr marL="0" indent="0">
              <a:buNone/>
            </a:pPr>
            <a:endParaRPr lang="en-GB" sz="2800" b="1" dirty="0"/>
          </a:p>
          <a:p>
            <a:r>
              <a:rPr lang="en-GB" sz="2800" b="1" dirty="0"/>
              <a:t>Waste disposal bins </a:t>
            </a:r>
          </a:p>
          <a:p>
            <a:r>
              <a:rPr lang="en-GB" sz="2800" b="1" dirty="0"/>
              <a:t>- separate for biohazard, sharps, and chemicals.</a:t>
            </a:r>
          </a:p>
        </p:txBody>
      </p:sp>
      <p:pic>
        <p:nvPicPr>
          <p:cNvPr id="5" name="Picture 4" descr="A machine with a round tube&#10;&#10;AI-generated content may be incorrect.">
            <a:extLst>
              <a:ext uri="{FF2B5EF4-FFF2-40B4-BE49-F238E27FC236}">
                <a16:creationId xmlns:a16="http://schemas.microsoft.com/office/drawing/2014/main" id="{D12986BC-2F1A-E5C5-95FA-FFBA3B6D43D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498787" y="1977903"/>
            <a:ext cx="3132905" cy="2133476"/>
          </a:xfrm>
          <a:prstGeom prst="rect">
            <a:avLst/>
          </a:prstGeom>
        </p:spPr>
      </p:pic>
      <p:pic>
        <p:nvPicPr>
          <p:cNvPr id="7" name="Picture 6" descr="A group of yellow and purple bins&#10;&#10;AI-generated content may be incorrect.">
            <a:extLst>
              <a:ext uri="{FF2B5EF4-FFF2-40B4-BE49-F238E27FC236}">
                <a16:creationId xmlns:a16="http://schemas.microsoft.com/office/drawing/2014/main" id="{DE10C348-C1BA-3152-ECCC-83E844D77D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8447315" y="4242193"/>
            <a:ext cx="3235850" cy="2410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286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577A19-D75C-EBEF-4FEC-E0AF87F48D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28991"/>
            <a:ext cx="10972800" cy="4389120"/>
          </a:xfrm>
        </p:spPr>
        <p:txBody>
          <a:bodyPr/>
          <a:lstStyle/>
          <a:p>
            <a:r>
              <a:rPr lang="en-GB" dirty="0"/>
              <a:t>  </a:t>
            </a:r>
            <a:r>
              <a:rPr lang="en-GB" sz="2800" b="1" dirty="0"/>
              <a:t>Eyewash stations &amp; fire extinguishers</a:t>
            </a:r>
          </a:p>
          <a:p>
            <a:pPr marL="0" indent="0">
              <a:buNone/>
            </a:pPr>
            <a:r>
              <a:rPr lang="en-GB" sz="2800" b="1" dirty="0"/>
              <a:t> - for emergencies.</a:t>
            </a:r>
          </a:p>
          <a:p>
            <a:endParaRPr lang="en-GB" dirty="0"/>
          </a:p>
        </p:txBody>
      </p:sp>
      <p:pic>
        <p:nvPicPr>
          <p:cNvPr id="5" name="Picture 4" descr="A person washing a shower&#10;&#10;AI-generated content may be incorrect.">
            <a:extLst>
              <a:ext uri="{FF2B5EF4-FFF2-40B4-BE49-F238E27FC236}">
                <a16:creationId xmlns:a16="http://schemas.microsoft.com/office/drawing/2014/main" id="{CAF0641E-B854-0AEC-B422-5C6E8EA2BA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929463" y="1328990"/>
            <a:ext cx="3917296" cy="4894527"/>
          </a:xfrm>
          <a:prstGeom prst="rect">
            <a:avLst/>
          </a:prstGeom>
        </p:spPr>
      </p:pic>
      <p:pic>
        <p:nvPicPr>
          <p:cNvPr id="7" name="Picture 6" descr="A group of red fire extinguishers&#10;&#10;AI-generated content may be incorrect.">
            <a:extLst>
              <a:ext uri="{FF2B5EF4-FFF2-40B4-BE49-F238E27FC236}">
                <a16:creationId xmlns:a16="http://schemas.microsoft.com/office/drawing/2014/main" id="{E4A4CF14-5819-BA3D-FB7C-E51B0D8552E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3853544" y="2565919"/>
            <a:ext cx="3830212" cy="3868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90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39013" y="2542219"/>
            <a:ext cx="10972800" cy="1143000"/>
          </a:xfrm>
        </p:spPr>
        <p:txBody>
          <a:bodyPr rtlCol="0">
            <a:normAutofit/>
          </a:bodyPr>
          <a:lstStyle/>
          <a:p>
            <a:pPr algn="ctr" rtl="0"/>
            <a:r>
              <a:rPr lang="en-GB" sz="7200" b="1" dirty="0"/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2054880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 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TM02900720[[fn=Integral]]</Template>
  <TotalTime>124</TotalTime>
  <Words>1384</Words>
  <Application>Microsoft Office PowerPoint</Application>
  <PresentationFormat>Widescreen</PresentationFormat>
  <Paragraphs>163</Paragraphs>
  <Slides>36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7" baseType="lpstr">
      <vt:lpstr>Integral</vt:lpstr>
      <vt:lpstr>Cell Biology Lab Safety  &amp;  Equipment</vt:lpstr>
      <vt:lpstr>Lab Safety in Cell Biology</vt:lpstr>
      <vt:lpstr>PowerPoint Presentation</vt:lpstr>
      <vt:lpstr>1. General Safety Rules</vt:lpstr>
      <vt:lpstr>General Safety Rules</vt:lpstr>
      <vt:lpstr>2. Biological Safety </vt:lpstr>
      <vt:lpstr>3. Chemical Safety </vt:lpstr>
      <vt:lpstr>4. Sharps &amp; Glassware </vt:lpstr>
      <vt:lpstr>5. Emergency Preparedness </vt:lpstr>
      <vt:lpstr>PowerPoint Presentation</vt:lpstr>
      <vt:lpstr>Microscopy</vt:lpstr>
      <vt:lpstr>1. Light (Optical) Microscopes</vt:lpstr>
      <vt:lpstr>A.  Simple Microscopes: </vt:lpstr>
      <vt:lpstr>B.  Compound Microscopes: </vt:lpstr>
      <vt:lpstr>C.  Specialized Light Microscopes</vt:lpstr>
      <vt:lpstr>I. Phase contrast microscopes: </vt:lpstr>
      <vt:lpstr>I. Phase contrast microscopes: </vt:lpstr>
      <vt:lpstr>II. Fluorescence microscopes:</vt:lpstr>
      <vt:lpstr>II. Fluorescence microscopes:</vt:lpstr>
      <vt:lpstr>2. Electron Microscopes (EM) :</vt:lpstr>
      <vt:lpstr>A. Transmission Electron Microscopes (TEM):</vt:lpstr>
      <vt:lpstr>A. Transmission Electron Microscopes (TEM):</vt:lpstr>
      <vt:lpstr>A. Transmission Electron Microscopes (TEM):</vt:lpstr>
      <vt:lpstr>B. Scanning Electron Microscopes (SEM):</vt:lpstr>
      <vt:lpstr>B. Scanning Electron Microscopes (SEM):</vt:lpstr>
      <vt:lpstr>PowerPoint Presentation</vt:lpstr>
      <vt:lpstr>1. Basic Lab Equipment </vt:lpstr>
      <vt:lpstr>PowerPoint Presentation</vt:lpstr>
      <vt:lpstr>PowerPoint Presentation</vt:lpstr>
      <vt:lpstr>2. Cell Culture Equipment </vt:lpstr>
      <vt:lpstr>PowerPoint Presentation</vt:lpstr>
      <vt:lpstr>3. Analytical Equipment </vt:lpstr>
      <vt:lpstr>PowerPoint Presentation</vt:lpstr>
      <vt:lpstr>4. Sterilization &amp; Safety Equipment </vt:lpstr>
      <vt:lpstr>PowerPoint Presentation</vt:lpstr>
      <vt:lpstr>THANKS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Cell Biology Lab Safety  &amp;  Equipment</dc:title>
  <dc:creator>Aya Sayed</dc:creator>
  <cp:lastModifiedBy>DR.Soha Ahmed</cp:lastModifiedBy>
  <cp:revision>3</cp:revision>
  <dcterms:created xsi:type="dcterms:W3CDTF">2025-09-19T10:45:16Z</dcterms:created>
  <dcterms:modified xsi:type="dcterms:W3CDTF">2025-09-21T16:41:58Z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74069100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