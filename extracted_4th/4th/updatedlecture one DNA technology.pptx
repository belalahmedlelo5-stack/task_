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Masters/slideMaster4.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0" r:id="rId4"/>
  </p:sldMasterIdLst>
  <p:notesMasterIdLst>
    <p:notesMasterId r:id="rId19"/>
  </p:notesMasterIdLst>
  <p:sldIdLst>
    <p:sldId id="275" r:id="rId5"/>
    <p:sldId id="270" r:id="rId6"/>
    <p:sldId id="274" r:id="rId7"/>
    <p:sldId id="272" r:id="rId8"/>
    <p:sldId id="273" r:id="rId9"/>
    <p:sldId id="267" r:id="rId10"/>
    <p:sldId id="257" r:id="rId11"/>
    <p:sldId id="264" r:id="rId12"/>
    <p:sldId id="268" r:id="rId13"/>
    <p:sldId id="271" r:id="rId14"/>
    <p:sldId id="256" r:id="rId15"/>
    <p:sldId id="258" r:id="rId16"/>
    <p:sldId id="262"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00" autoAdjust="0"/>
    <p:restoredTop sz="94660"/>
  </p:normalViewPr>
  <p:slideViewPr>
    <p:cSldViewPr snapToGrid="0">
      <p:cViewPr varScale="1">
        <p:scale>
          <a:sx n="64" d="100"/>
          <a:sy n="64" d="100"/>
        </p:scale>
        <p:origin x="-108" y="-300"/>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BF4D5F-4CD7-43AF-B5C0-370423E76B01}" type="datetimeFigureOut">
              <a:rPr lang="en-US" smtClean="0"/>
              <a:pPr/>
              <a:t>1/1/2004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F65AC7-27D7-4D34-9F3F-3421D7240CF5}" type="slidenum">
              <a:rPr lang="en-US" smtClean="0"/>
              <a:pPr/>
              <a:t>‹#›</a:t>
            </a:fld>
            <a:endParaRPr lang="en-US"/>
          </a:p>
        </p:txBody>
      </p:sp>
    </p:spTree>
    <p:extLst>
      <p:ext uri="{BB962C8B-B14F-4D97-AF65-F5344CB8AC3E}">
        <p14:creationId xmlns:p14="http://schemas.microsoft.com/office/powerpoint/2010/main" xmlns="" val="2153328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xmlns="" val="366803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CABE48-84B8-4A82-BC16-BEFAEE8CC89B}"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980714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CABE48-84B8-4A82-BC16-BEFAEE8CC89B}"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85884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CABE48-84B8-4A82-BC16-BEFAEE8CC89B}"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238879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CABE48-84B8-4A82-BC16-BEFAEE8CC89B}"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237638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CABE48-84B8-4A82-BC16-BEFAEE8CC89B}" type="datetimeFigureOut">
              <a:rPr lang="en-US" smtClean="0"/>
              <a:pPr/>
              <a:t>1/1/2004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3169491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CABE48-84B8-4A82-BC16-BEFAEE8CC89B}" type="datetimeFigureOut">
              <a:rPr lang="en-US" smtClean="0"/>
              <a:pPr/>
              <a:t>1/1/2004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1372842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CABE48-84B8-4A82-BC16-BEFAEE8CC89B}" type="datetimeFigureOut">
              <a:rPr lang="en-US" smtClean="0"/>
              <a:pPr/>
              <a:t>1/1/2004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863997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CABE48-84B8-4A82-BC16-BEFAEE8CC89B}"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2632682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CABE48-84B8-4A82-BC16-BEFAEE8CC89B}"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656133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CABE48-84B8-4A82-BC16-BEFAEE8CC89B}"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371059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CABE48-84B8-4A82-BC16-BEFAEE8CC89B}"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1531761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1CE4EF-C053-4EB8-BB7F-CD214410857F}"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164141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CE4EF-C053-4EB8-BB7F-CD214410857F}"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16556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1CE4EF-C053-4EB8-BB7F-CD214410857F}"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627714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1CE4EF-C053-4EB8-BB7F-CD214410857F}"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929948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1CE4EF-C053-4EB8-BB7F-CD214410857F}" type="datetimeFigureOut">
              <a:rPr lang="en-US" smtClean="0"/>
              <a:pPr/>
              <a:t>1/1/2004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270287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1CE4EF-C053-4EB8-BB7F-CD214410857F}" type="datetimeFigureOut">
              <a:rPr lang="en-US" smtClean="0"/>
              <a:pPr/>
              <a:t>1/1/2004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0142017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CE4EF-C053-4EB8-BB7F-CD214410857F}" type="datetimeFigureOut">
              <a:rPr lang="en-US" smtClean="0"/>
              <a:pPr/>
              <a:t>1/1/2004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1375560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1CE4EF-C053-4EB8-BB7F-CD214410857F}"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9049140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1CE4EF-C053-4EB8-BB7F-CD214410857F}"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2532641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CE4EF-C053-4EB8-BB7F-CD214410857F}"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39542434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CE4EF-C053-4EB8-BB7F-CD214410857F}"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2387427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pic>
        <p:nvPicPr>
          <p:cNvPr id="6" name="image1.jpg"/>
          <p:cNvPicPr>
            <a:picLocks noChangeAspect="1"/>
          </p:cNvPicPr>
          <p:nvPr/>
        </p:nvPicPr>
        <p:blipFill>
          <a:blip r:embed="rId2">
            <a:duotone>
              <a:schemeClr val="accent1"/>
              <a:srgbClr val="FFFFFF"/>
            </a:duotone>
          </a:blip>
          <a:stretch>
            <a:fillRect/>
          </a:stretch>
        </p:blipFill>
        <p:spPr>
          <a:xfrm>
            <a:off x="0" y="0"/>
            <a:ext cx="12192000" cy="6858000"/>
          </a:xfrm>
          <a:prstGeom prst="rect">
            <a:avLst/>
          </a:prstGeom>
          <a:noFill/>
          <a:ln>
            <a:noFill/>
          </a:ln>
        </p:spPr>
      </p:pic>
      <p:pic>
        <p:nvPicPr>
          <p:cNvPr id="7" name="image2.png"/>
          <p:cNvPicPr>
            <a:picLocks noChangeAspect="1"/>
          </p:cNvPicPr>
          <p:nvPr/>
        </p:nvPicPr>
        <p:blipFill>
          <a:blip r:embed="rId3">
            <a:duotone>
              <a:schemeClr val="accent1"/>
              <a:srgbClr val="FFFFFF"/>
            </a:duotone>
          </a:blip>
          <a:stretch>
            <a:fillRect/>
          </a:stretch>
        </p:blipFill>
        <p:spPr>
          <a:xfrm>
            <a:off x="762" y="429"/>
            <a:ext cx="12190477" cy="6857143"/>
          </a:xfrm>
          <a:prstGeom prst="rect">
            <a:avLst/>
          </a:prstGeom>
          <a:noFill/>
          <a:ln>
            <a:noFill/>
          </a:ln>
        </p:spPr>
      </p:pic>
      <p:pic>
        <p:nvPicPr>
          <p:cNvPr id="8" name="image3.png"/>
          <p:cNvPicPr>
            <a:picLocks noChangeAspect="1"/>
          </p:cNvPicPr>
          <p:nvPr/>
        </p:nvPicPr>
        <p:blipFill>
          <a:blip r:embed="rId4">
            <a:duotone>
              <a:schemeClr val="accent1"/>
              <a:srgbClr val="FFFFFF"/>
            </a:duotone>
          </a:blip>
          <a:stretch>
            <a:fillRect/>
          </a:stretch>
        </p:blipFill>
        <p:spPr>
          <a:xfrm>
            <a:off x="762" y="429"/>
            <a:ext cx="12190477" cy="6857143"/>
          </a:xfrm>
          <a:prstGeom prst="rect">
            <a:avLst/>
          </a:prstGeom>
          <a:noFill/>
          <a:ln>
            <a:noFill/>
          </a:ln>
        </p:spPr>
      </p:pic>
      <p:pic>
        <p:nvPicPr>
          <p:cNvPr id="9" name="image4.png"/>
          <p:cNvPicPr>
            <a:picLocks noChangeAspect="1"/>
          </p:cNvPicPr>
          <p:nvPr/>
        </p:nvPicPr>
        <p:blipFill>
          <a:blip r:embed="rId5"/>
          <a:stretch>
            <a:fillRect/>
          </a:stretch>
        </p:blipFill>
        <p:spPr>
          <a:xfrm>
            <a:off x="762" y="429"/>
            <a:ext cx="12190477" cy="6857143"/>
          </a:xfrm>
          <a:prstGeom prst="rect">
            <a:avLst/>
          </a:prstGeom>
          <a:noFill/>
          <a:ln>
            <a:noFill/>
          </a:ln>
        </p:spPr>
      </p:pic>
      <p:sp>
        <p:nvSpPr>
          <p:cNvPr id="31" name="Rectangle 31"/>
          <p:cNvSpPr>
            <a:spLocks noGrp="1"/>
          </p:cNvSpPr>
          <p:nvPr>
            <p:ph type="subTitle" idx="1"/>
          </p:nvPr>
        </p:nvSpPr>
        <p:spPr>
          <a:xfrm>
            <a:off x="3323645" y="5094578"/>
            <a:ext cx="8258755" cy="925223"/>
          </a:xfrm>
        </p:spPr>
        <p:txBody>
          <a:bodyPr/>
          <a:lstStyle>
            <a:lvl1pPr marL="0" indent="0" algn="r">
              <a:buNone/>
              <a:defRPr sz="28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ar-SA" smtClean="0"/>
              <a:t>انقر لتحرير نمط العنوان الثانوي الرئيسي</a:t>
            </a:r>
            <a:endParaRPr lang="en-US"/>
          </a:p>
        </p:txBody>
      </p:sp>
      <p:sp>
        <p:nvSpPr>
          <p:cNvPr id="5" name="Rectangle 5"/>
          <p:cNvSpPr>
            <a:spLocks noGrp="1"/>
          </p:cNvSpPr>
          <p:nvPr>
            <p:ph type="ctrTitle"/>
          </p:nvPr>
        </p:nvSpPr>
        <p:spPr>
          <a:xfrm>
            <a:off x="1478648" y="3606801"/>
            <a:ext cx="10103752" cy="1470025"/>
          </a:xfrm>
        </p:spPr>
        <p:txBody>
          <a:bodyPr anchor="b" anchorCtr="0"/>
          <a:lstStyle>
            <a:lvl1pPr algn="r">
              <a:defRPr sz="4000"/>
            </a:lvl1pPr>
          </a:lstStyle>
          <a:p>
            <a:r>
              <a:rPr lang="ar-SA" smtClean="0"/>
              <a:t>انقر لتحرير نمط العنوان الرئيسي</a:t>
            </a:r>
            <a:endParaRPr lang="en-US"/>
          </a:p>
        </p:txBody>
      </p:sp>
      <p:sp>
        <p:nvSpPr>
          <p:cNvPr id="10" name="Date Placeholder 9"/>
          <p:cNvSpPr>
            <a:spLocks noGrp="1"/>
          </p:cNvSpPr>
          <p:nvPr>
            <p:ph type="dt" sz="half" idx="10"/>
          </p:nvPr>
        </p:nvSpPr>
        <p:spPr/>
        <p:txBody>
          <a:bodyPr/>
          <a:lstStyle/>
          <a:p>
            <a:fld id="{5C14FD69-4A85-4715-A222-ABB225B63BC6}" type="datetimeFigureOut">
              <a:rPr lang="en-US" smtClean="0"/>
              <a:pPr/>
              <a:t>1/1/2004</a:t>
            </a:fld>
            <a:endParaRPr lang="en-US"/>
          </a:p>
        </p:txBody>
      </p:sp>
      <p:sp>
        <p:nvSpPr>
          <p:cNvPr id="11" name="Slide Number Placeholder 10"/>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2" name="Footer Placeholder 11"/>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19533000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عنوان ونص">
    <p:spTree>
      <p:nvGrpSpPr>
        <p:cNvPr id="1" name=""/>
        <p:cNvGrpSpPr/>
        <p:nvPr/>
      </p:nvGrpSpPr>
      <p:grpSpPr>
        <a:xfrm>
          <a:off x="0" y="0"/>
          <a:ext cx="0" cy="0"/>
          <a:chOff x="0" y="0"/>
          <a:chExt cx="0" cy="0"/>
        </a:xfrm>
      </p:grpSpPr>
      <p:sp>
        <p:nvSpPr>
          <p:cNvPr id="7" name="Rectangle 7"/>
          <p:cNvSpPr>
            <a:spLocks noGrp="1"/>
          </p:cNvSpPr>
          <p:nvPr>
            <p:ph type="body"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9" name="Title 8"/>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8" name="Date Placeholder 7"/>
          <p:cNvSpPr>
            <a:spLocks noGrp="1"/>
          </p:cNvSpPr>
          <p:nvPr>
            <p:ph type="dt" sz="half" idx="10"/>
          </p:nvPr>
        </p:nvSpPr>
        <p:spPr/>
        <p:txBody>
          <a:bodyPr/>
          <a:lstStyle/>
          <a:p>
            <a:fld id="{5C14FD69-4A85-4715-A222-ABB225B63BC6}" type="datetimeFigureOut">
              <a:rPr lang="en-US" smtClean="0"/>
              <a:pPr/>
              <a:t>1/1/2004</a:t>
            </a:fld>
            <a:endParaRPr lang="en-US"/>
          </a:p>
        </p:txBody>
      </p:sp>
      <p:sp>
        <p:nvSpPr>
          <p:cNvPr id="10" name="Slide Number Placeholder 9"/>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1" name="Footer Placeholder 10"/>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4284180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عنوان فقط">
    <p:spTree>
      <p:nvGrpSpPr>
        <p:cNvPr id="1" name=""/>
        <p:cNvGrpSpPr/>
        <p:nvPr/>
      </p:nvGrpSpPr>
      <p:grpSpPr>
        <a:xfrm>
          <a:off x="0" y="0"/>
          <a:ext cx="0" cy="0"/>
          <a:chOff x="0" y="0"/>
          <a:chExt cx="0" cy="0"/>
        </a:xfrm>
      </p:grpSpPr>
      <p:sp>
        <p:nvSpPr>
          <p:cNvPr id="6" name="Title 5"/>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7" name="Date Placeholder 6"/>
          <p:cNvSpPr>
            <a:spLocks noGrp="1"/>
          </p:cNvSpPr>
          <p:nvPr>
            <p:ph type="dt" sz="half" idx="10"/>
          </p:nvPr>
        </p:nvSpPr>
        <p:spPr/>
        <p:txBody>
          <a:bodyPr/>
          <a:lstStyle/>
          <a:p>
            <a:fld id="{5C14FD69-4A85-4715-A222-ABB225B63BC6}" type="datetimeFigureOut">
              <a:rPr lang="en-US" smtClean="0"/>
              <a:pPr/>
              <a:t>1/1/2004</a:t>
            </a:fld>
            <a:endParaRPr lang="en-US"/>
          </a:p>
        </p:txBody>
      </p:sp>
      <p:sp>
        <p:nvSpPr>
          <p:cNvPr id="8" name="Slide Number Placeholder 7"/>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15085158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C14FD69-4A85-4715-A222-ABB225B63BC6}" type="datetimeFigureOut">
              <a:rPr lang="en-US" smtClean="0"/>
              <a:pPr/>
              <a:t>1/1/2004</a:t>
            </a:fld>
            <a:endParaRPr lang="en-US"/>
          </a:p>
        </p:txBody>
      </p:sp>
      <p:sp>
        <p:nvSpPr>
          <p:cNvPr id="6" name="Slide Number Placeholder 5"/>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8" name="Footer Placeholder 7"/>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27277439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عنوان ونص من عمودين">
    <p:spTree>
      <p:nvGrpSpPr>
        <p:cNvPr id="1" name=""/>
        <p:cNvGrpSpPr/>
        <p:nvPr/>
      </p:nvGrpSpPr>
      <p:grpSpPr>
        <a:xfrm>
          <a:off x="0" y="0"/>
          <a:ext cx="0" cy="0"/>
          <a:chOff x="0" y="0"/>
          <a:chExt cx="0" cy="0"/>
        </a:xfrm>
      </p:grpSpPr>
      <p:sp>
        <p:nvSpPr>
          <p:cNvPr id="4" name="Rectangle 4"/>
          <p:cNvSpPr>
            <a:spLocks noGrp="1"/>
          </p:cNvSpPr>
          <p:nvPr>
            <p:ph type="body" sz="half" idx="1"/>
          </p:nvPr>
        </p:nvSpPr>
        <p:spPr>
          <a:xfrm>
            <a:off x="609600" y="1600201"/>
            <a:ext cx="53848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11" name="Rectangle 11"/>
          <p:cNvSpPr>
            <a:spLocks noGrp="1"/>
          </p:cNvSpPr>
          <p:nvPr>
            <p:ph type="body" sz="half" idx="2"/>
          </p:nvPr>
        </p:nvSpPr>
        <p:spPr>
          <a:xfrm>
            <a:off x="6197600" y="1600201"/>
            <a:ext cx="53848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8" name="Title 7"/>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10" name="Date Placeholder 9"/>
          <p:cNvSpPr>
            <a:spLocks noGrp="1"/>
          </p:cNvSpPr>
          <p:nvPr>
            <p:ph type="dt" sz="half" idx="10"/>
          </p:nvPr>
        </p:nvSpPr>
        <p:spPr/>
        <p:txBody>
          <a:bodyPr/>
          <a:lstStyle/>
          <a:p>
            <a:fld id="{5C14FD69-4A85-4715-A222-ABB225B63BC6}" type="datetimeFigureOut">
              <a:rPr lang="en-US" smtClean="0"/>
              <a:pPr/>
              <a:t>1/1/2004</a:t>
            </a:fld>
            <a:endParaRPr lang="en-US"/>
          </a:p>
        </p:txBody>
      </p:sp>
      <p:sp>
        <p:nvSpPr>
          <p:cNvPr id="12" name="Slide Number Placeholder 11"/>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3" name="Footer Placeholder 12"/>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4478383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عنوان ومحتوى">
    <p:spTree>
      <p:nvGrpSpPr>
        <p:cNvPr id="1" name=""/>
        <p:cNvGrpSpPr/>
        <p:nvPr/>
      </p:nvGrpSpPr>
      <p:grpSpPr>
        <a:xfrm>
          <a:off x="0" y="0"/>
          <a:ext cx="0" cy="0"/>
          <a:chOff x="0" y="0"/>
          <a:chExt cx="0" cy="0"/>
        </a:xfrm>
      </p:grpSpPr>
      <p:sp>
        <p:nvSpPr>
          <p:cNvPr id="16" name="Rectangle 16"/>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7" name="Title 6"/>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8" name="Date Placeholder 7"/>
          <p:cNvSpPr>
            <a:spLocks noGrp="1"/>
          </p:cNvSpPr>
          <p:nvPr>
            <p:ph type="dt" sz="half" idx="10"/>
          </p:nvPr>
        </p:nvSpPr>
        <p:spPr/>
        <p:txBody>
          <a:bodyPr/>
          <a:lstStyle/>
          <a:p>
            <a:fld id="{5C14FD69-4A85-4715-A222-ABB225B63BC6}" type="datetimeFigureOut">
              <a:rPr lang="en-US" smtClean="0"/>
              <a:pPr/>
              <a:t>1/1/2004</a:t>
            </a:fld>
            <a:endParaRPr lang="en-US"/>
          </a:p>
        </p:txBody>
      </p:sp>
      <p:sp>
        <p:nvSpPr>
          <p:cNvPr id="9" name="Slide Number Placeholder 8"/>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0" name="Footer Placeholder 9"/>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1122493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2 Content">
    <p:spTree>
      <p:nvGrpSpPr>
        <p:cNvPr id="1" name=""/>
        <p:cNvGrpSpPr/>
        <p:nvPr/>
      </p:nvGrpSpPr>
      <p:grpSpPr>
        <a:xfrm>
          <a:off x="0" y="0"/>
          <a:ext cx="0" cy="0"/>
          <a:chOff x="0" y="0"/>
          <a:chExt cx="0" cy="0"/>
        </a:xfrm>
      </p:grpSpPr>
      <p:sp>
        <p:nvSpPr>
          <p:cNvPr id="30" name="Rectangle 30"/>
          <p:cNvSpPr>
            <a:spLocks noGrp="1"/>
          </p:cNvSpPr>
          <p:nvPr>
            <p:ph sz="half" idx="1"/>
          </p:nvPr>
        </p:nvSpPr>
        <p:spPr>
          <a:xfrm>
            <a:off x="609600" y="1600201"/>
            <a:ext cx="53848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17" name="Rectangle 17"/>
          <p:cNvSpPr>
            <a:spLocks noGrp="1"/>
          </p:cNvSpPr>
          <p:nvPr>
            <p:ph sz="half" idx="2"/>
          </p:nvPr>
        </p:nvSpPr>
        <p:spPr>
          <a:xfrm>
            <a:off x="6197600" y="1600201"/>
            <a:ext cx="5384800" cy="4525963"/>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smtClean="0"/>
          </a:p>
        </p:txBody>
      </p:sp>
      <p:sp>
        <p:nvSpPr>
          <p:cNvPr id="8" name="Title 7"/>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9" name="Date Placeholder 8"/>
          <p:cNvSpPr>
            <a:spLocks noGrp="1"/>
          </p:cNvSpPr>
          <p:nvPr>
            <p:ph type="dt" sz="half" idx="10"/>
          </p:nvPr>
        </p:nvSpPr>
        <p:spPr/>
        <p:txBody>
          <a:bodyPr/>
          <a:lstStyle/>
          <a:p>
            <a:fld id="{5C14FD69-4A85-4715-A222-ABB225B63BC6}" type="datetimeFigureOut">
              <a:rPr lang="en-US" smtClean="0"/>
              <a:pPr/>
              <a:t>1/1/2004</a:t>
            </a:fld>
            <a:endParaRPr lang="en-US"/>
          </a:p>
        </p:txBody>
      </p:sp>
      <p:sp>
        <p:nvSpPr>
          <p:cNvPr id="10" name="Slide Number Placeholder 9"/>
          <p:cNvSpPr>
            <a:spLocks noGrp="1"/>
          </p:cNvSpPr>
          <p:nvPr>
            <p:ph type="sldNum" sz="quarter" idx="11"/>
          </p:nvPr>
        </p:nvSpPr>
        <p:spPr/>
        <p:txBody>
          <a:bodyPr/>
          <a:lstStyle/>
          <a:p>
            <a:pPr algn="r"/>
            <a:fld id="{D4C49B74-5DB2-4B03-B1D2-7F6A3C51C318}" type="slidenum">
              <a:rPr lang="en-US" smtClean="0"/>
              <a:pPr algn="r"/>
              <a:t>‹#›</a:t>
            </a:fld>
            <a:endParaRPr lang="en-US"/>
          </a:p>
        </p:txBody>
      </p:sp>
      <p:sp>
        <p:nvSpPr>
          <p:cNvPr id="11" name="Footer Placeholder 10"/>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xmlns="" val="1247582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12689205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3673616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5034573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BEEBAAA-29B5-4AF5-BC5F-7E580C29002D}"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31810791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BEEBAAA-29B5-4AF5-BC5F-7E580C29002D}" type="datetimeFigureOut">
              <a:rPr lang="en-US" smtClean="0"/>
              <a:pPr/>
              <a:t>1/1/2004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4296643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pPr/>
              <a:t>1/1/2004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
        <p:nvSpPr>
          <p:cNvPr id="6" name="Rectangle 5"/>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2638550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BEEBAAA-29B5-4AF5-BC5F-7E580C29002D}" type="datetimeFigureOut">
              <a:rPr lang="en-US" smtClean="0"/>
              <a:pPr/>
              <a:t>1/1/2004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xmlns="" val="4214559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BEEBAAA-29B5-4AF5-BC5F-7E580C29002D}" type="datetimeFigureOut">
              <a:rPr lang="en-US" smtClean="0"/>
              <a:pPr/>
              <a:t>1/1/2004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solidFill>
                <a:srgbClr val="514949"/>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860EDB8-5305-433F-BE41-D7A86D811DB3}" type="slidenum">
              <a:rPr lang="en-US" smtClean="0">
                <a:solidFill>
                  <a:srgbClr val="514949"/>
                </a:solidFill>
              </a:rPr>
              <a:pPr/>
              <a:t>‹#›</a:t>
            </a:fld>
            <a:endParaRPr lang="en-US">
              <a:solidFill>
                <a:srgbClr val="514949"/>
              </a:solidFill>
            </a:endParaRPr>
          </a:p>
        </p:txBody>
      </p:sp>
    </p:spTree>
    <p:extLst>
      <p:ext uri="{BB962C8B-B14F-4D97-AF65-F5344CB8AC3E}">
        <p14:creationId xmlns:p14="http://schemas.microsoft.com/office/powerpoint/2010/main" xmlns="" val="25325853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1/1/2004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xmlns="" val="30996809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31318341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1/1/2004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9" name="Rectangle 8"/>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xmlns="" val="424050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2.png"/><Relationship Id="rId4" Type="http://schemas.openxmlformats.org/officeDocument/2006/relationships/slideLayout" Target="../slideLayouts/slideLayout26.xml"/><Relationship Id="rId9"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CABE48-84B8-4A82-BC16-BEFAEE8CC89B}" type="datetimeFigureOut">
              <a:rPr lang="en-US" smtClean="0"/>
              <a:pPr/>
              <a:t>1/1/2004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E176CB-9B45-4D89-99FF-84E53D0C4CD1}" type="slidenum">
              <a:rPr lang="en-US" smtClean="0"/>
              <a:pPr/>
              <a:t>‹#›</a:t>
            </a:fld>
            <a:endParaRPr lang="en-US"/>
          </a:p>
        </p:txBody>
      </p:sp>
    </p:spTree>
    <p:extLst>
      <p:ext uri="{BB962C8B-B14F-4D97-AF65-F5344CB8AC3E}">
        <p14:creationId xmlns:p14="http://schemas.microsoft.com/office/powerpoint/2010/main" xmlns="" val="1020884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CE4EF-C053-4EB8-BB7F-CD214410857F}" type="datetimeFigureOut">
              <a:rPr lang="en-US" smtClean="0"/>
              <a:pPr/>
              <a:t>1/1/2004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F1D4DC-9EA9-4D1D-BB0E-A5E7A078EA52}" type="slidenum">
              <a:rPr lang="en-US" smtClean="0"/>
              <a:pPr/>
              <a:t>‹#›</a:t>
            </a:fld>
            <a:endParaRPr lang="en-US"/>
          </a:p>
        </p:txBody>
      </p:sp>
    </p:spTree>
    <p:extLst>
      <p:ext uri="{BB962C8B-B14F-4D97-AF65-F5344CB8AC3E}">
        <p14:creationId xmlns:p14="http://schemas.microsoft.com/office/powerpoint/2010/main" xmlns="" val="4151749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hade val="85000"/>
          </a:schemeClr>
        </a:solidFill>
        <a:effectLst/>
      </p:bgPr>
    </p:bg>
    <p:spTree>
      <p:nvGrpSpPr>
        <p:cNvPr id="1" name=""/>
        <p:cNvGrpSpPr/>
        <p:nvPr/>
      </p:nvGrpSpPr>
      <p:grpSpPr>
        <a:xfrm>
          <a:off x="0" y="0"/>
          <a:ext cx="0" cy="0"/>
          <a:chOff x="0" y="0"/>
          <a:chExt cx="0" cy="0"/>
        </a:xfrm>
      </p:grpSpPr>
      <p:pic>
        <p:nvPicPr>
          <p:cNvPr id="8" name="image5.png"/>
          <p:cNvPicPr>
            <a:picLocks noChangeAspect="1"/>
          </p:cNvPicPr>
          <p:nvPr/>
        </p:nvPicPr>
        <p:blipFill>
          <a:blip r:embed="rId9">
            <a:duotone>
              <a:schemeClr val="accent1"/>
              <a:srgbClr val="FFFFFF"/>
            </a:duotone>
          </a:blip>
          <a:stretch>
            <a:fillRect/>
          </a:stretch>
        </p:blipFill>
        <p:spPr>
          <a:xfrm>
            <a:off x="762" y="429"/>
            <a:ext cx="12190477" cy="6857143"/>
          </a:xfrm>
          <a:prstGeom prst="rect">
            <a:avLst/>
          </a:prstGeom>
          <a:noFill/>
          <a:ln>
            <a:noFill/>
          </a:ln>
        </p:spPr>
      </p:pic>
      <p:pic>
        <p:nvPicPr>
          <p:cNvPr id="9" name="image6.png"/>
          <p:cNvPicPr>
            <a:picLocks noChangeAspect="1"/>
          </p:cNvPicPr>
          <p:nvPr/>
        </p:nvPicPr>
        <p:blipFill>
          <a:blip r:embed="rId10"/>
          <a:stretch>
            <a:fillRect/>
          </a:stretch>
        </p:blipFill>
        <p:spPr>
          <a:xfrm>
            <a:off x="762" y="429"/>
            <a:ext cx="12190477" cy="6857143"/>
          </a:xfrm>
          <a:prstGeom prst="rect">
            <a:avLst/>
          </a:prstGeom>
          <a:noFill/>
          <a:ln>
            <a:noFill/>
          </a:ln>
        </p:spPr>
      </p:pic>
      <p:sp>
        <p:nvSpPr>
          <p:cNvPr id="30" name="Rectangle 30"/>
          <p:cNvSpPr>
            <a:spLocks noGrp="1"/>
          </p:cNvSpPr>
          <p:nvPr>
            <p:ph type="title"/>
          </p:nvPr>
        </p:nvSpPr>
        <p:spPr>
          <a:xfrm>
            <a:off x="609600" y="359465"/>
            <a:ext cx="10972800" cy="1143000"/>
          </a:xfrm>
          <a:prstGeom prst="rect">
            <a:avLst/>
          </a:prstGeom>
        </p:spPr>
        <p:txBody>
          <a:bodyPr anchor="b" anchorCtr="0">
            <a:normAutofit/>
          </a:bodyPr>
          <a:lstStyle/>
          <a:p>
            <a:pPr algn="l"/>
            <a:r>
              <a:rPr lang="ar-SA" smtClean="0"/>
              <a:t>انقر لتحرير نمط العنوان الرئيسي</a:t>
            </a:r>
            <a:endParaRPr lang="en-US"/>
          </a:p>
        </p:txBody>
      </p:sp>
      <p:sp>
        <p:nvSpPr>
          <p:cNvPr id="12" name="Rectangle 12"/>
          <p:cNvSpPr>
            <a:spLocks noGrp="1"/>
          </p:cNvSpPr>
          <p:nvPr>
            <p:ph type="body" idx="1"/>
          </p:nvPr>
        </p:nvSpPr>
        <p:spPr>
          <a:xfrm>
            <a:off x="609600" y="1600201"/>
            <a:ext cx="10972800" cy="4525963"/>
          </a:xfrm>
          <a:prstGeom prst="rect">
            <a:avLst/>
          </a:prstGeom>
        </p:spPr>
        <p:txBody>
          <a:bodyPr>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smtClean="0"/>
          </a:p>
        </p:txBody>
      </p:sp>
      <p:sp>
        <p:nvSpPr>
          <p:cNvPr id="6" name="Rectangle 6"/>
          <p:cNvSpPr>
            <a:spLocks noGrp="1"/>
          </p:cNvSpPr>
          <p:nvPr>
            <p:ph type="dt" sz="half" idx="2"/>
          </p:nvPr>
        </p:nvSpPr>
        <p:spPr>
          <a:xfrm>
            <a:off x="609600" y="6245225"/>
            <a:ext cx="2844800" cy="476250"/>
          </a:xfrm>
          <a:prstGeom prst="rect">
            <a:avLst/>
          </a:prstGeom>
        </p:spPr>
        <p:txBody>
          <a:bodyPr/>
          <a:lstStyle>
            <a:lvl1pPr>
              <a:defRPr sz="1000">
                <a:latin typeface="+mn-lt"/>
              </a:defRPr>
            </a:lvl1pPr>
          </a:lstStyle>
          <a:p>
            <a:fld id="{5C14FD69-4A85-4715-A222-ABB225B63BC6}" type="datetimeFigureOut">
              <a:rPr lang="en-US" smtClean="0"/>
              <a:pPr/>
              <a:t>1/1/2004</a:t>
            </a:fld>
            <a:endParaRPr lang="en-US" sz="1000" dirty="0" smtClean="0"/>
          </a:p>
        </p:txBody>
      </p:sp>
      <p:sp>
        <p:nvSpPr>
          <p:cNvPr id="20" name="Rectangle 20"/>
          <p:cNvSpPr>
            <a:spLocks noGrp="1"/>
          </p:cNvSpPr>
          <p:nvPr>
            <p:ph type="ftr" sz="quarter" idx="3"/>
          </p:nvPr>
        </p:nvSpPr>
        <p:spPr>
          <a:xfrm>
            <a:off x="4165600" y="6245225"/>
            <a:ext cx="3860800" cy="476250"/>
          </a:xfrm>
          <a:prstGeom prst="rect">
            <a:avLst/>
          </a:prstGeom>
        </p:spPr>
        <p:txBody>
          <a:bodyPr/>
          <a:lstStyle>
            <a:lvl1pPr algn="ctr">
              <a:defRPr sz="1000">
                <a:latin typeface="+mn-lt"/>
              </a:defRPr>
            </a:lvl1pPr>
          </a:lstStyle>
          <a:p>
            <a:pPr algn="ctr"/>
            <a:endParaRPr lang="en-US" sz="1000" smtClean="0"/>
          </a:p>
        </p:txBody>
      </p:sp>
      <p:sp>
        <p:nvSpPr>
          <p:cNvPr id="21" name="Rectangle 21"/>
          <p:cNvSpPr>
            <a:spLocks noGrp="1"/>
          </p:cNvSpPr>
          <p:nvPr>
            <p:ph type="sldNum" sz="quarter" idx="4"/>
          </p:nvPr>
        </p:nvSpPr>
        <p:spPr>
          <a:xfrm>
            <a:off x="8737600" y="6245225"/>
            <a:ext cx="2844800" cy="476250"/>
          </a:xfrm>
          <a:prstGeom prst="rect">
            <a:avLst/>
          </a:prstGeom>
        </p:spPr>
        <p:txBody>
          <a:bodyPr/>
          <a:lstStyle>
            <a:lvl1pPr>
              <a:defRPr sz="1000">
                <a:latin typeface="+mn-lt"/>
              </a:defRPr>
            </a:lvl1pPr>
          </a:lstStyle>
          <a:p>
            <a:pPr algn="r"/>
            <a:fld id="{D4C49B74-5DB2-4B03-B1D2-7F6A3C51C318}" type="slidenum">
              <a:rPr lang="en-US" smtClean="0"/>
              <a:pPr algn="r"/>
              <a:t>‹#›</a:t>
            </a:fld>
            <a:endParaRPr lang="en-US" sz="1000" dirty="0" smtClean="0"/>
          </a:p>
        </p:txBody>
      </p:sp>
    </p:spTree>
    <p:extLst>
      <p:ext uri="{BB962C8B-B14F-4D97-AF65-F5344CB8AC3E}">
        <p14:creationId xmlns:p14="http://schemas.microsoft.com/office/powerpoint/2010/main" xmlns="" val="36483750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Lst>
  <p:txStyles>
    <p:titleStyle>
      <a:defPPr>
        <a:defRPr sz="4400">
          <a:solidFill>
            <a:schemeClr val="tx1"/>
          </a:solidFill>
          <a:latin typeface="+mj-lt"/>
          <a:ea typeface="+mj-ea"/>
          <a:cs typeface="+mj-cs"/>
        </a:defRPr>
      </a:defPPr>
      <a:lvl1pPr algn="l" rtl="1" eaLnBrk="1" hangingPunct="1">
        <a:buNone/>
        <a:defRPr sz="3600">
          <a:solidFill>
            <a:schemeClr val="tx1">
              <a:alpha val="100000"/>
            </a:schemeClr>
          </a:solidFill>
          <a:latin typeface="+mj-lt"/>
        </a:defRPr>
      </a:lvl1pPr>
    </p:titleStyle>
    <p:bodyStyle>
      <a:defPPr>
        <a:defRPr>
          <a:solidFill>
            <a:schemeClr val="tx1"/>
          </a:solidFill>
          <a:latin typeface="+mn-lt"/>
          <a:ea typeface="+mn-ea"/>
          <a:cs typeface="+mn-cs"/>
        </a:defRPr>
      </a:defPPr>
      <a:lvl1pPr marL="342900" indent="-342900" algn="r" rtl="1" eaLnBrk="1" hangingPunct="1">
        <a:buChar char="•"/>
        <a:defRPr sz="2800">
          <a:latin typeface="+mn-lt"/>
        </a:defRPr>
      </a:lvl1pPr>
      <a:lvl2pPr marL="742950" indent="-285750" algn="r" rtl="1" eaLnBrk="1" hangingPunct="1">
        <a:buChar char="–"/>
        <a:defRPr sz="2400">
          <a:latin typeface="+mn-lt"/>
        </a:defRPr>
      </a:lvl2pPr>
      <a:lvl3pPr marL="1143000" indent="-228600" algn="r" rtl="1" eaLnBrk="1" hangingPunct="1">
        <a:buChar char="•"/>
        <a:defRPr sz="2400">
          <a:latin typeface="+mn-lt"/>
        </a:defRPr>
      </a:lvl3pPr>
      <a:lvl4pPr marL="1600200" indent="-228600" algn="r" rtl="1" eaLnBrk="1" hangingPunct="1">
        <a:buChar char="–"/>
        <a:defRPr sz="2000">
          <a:latin typeface="+mn-lt"/>
        </a:defRPr>
      </a:lvl4pPr>
      <a:lvl5pPr marL="2057400" indent="-228600" algn="r" rtl="1" eaLnBrk="1" hangingPunct="1">
        <a:buChar char="»"/>
        <a:defRPr sz="2000">
          <a:latin typeface="+mn-lt"/>
        </a:defRPr>
      </a:lvl5pPr>
      <a:lvl6pPr marL="2514600" indent="-228600" algn="r" rtl="1" eaLnBrk="1" hangingPunct="1">
        <a:buChar char="•"/>
        <a:defRPr sz="2000"/>
      </a:lvl6pPr>
      <a:lvl7pPr marL="2971800" indent="-228600" algn="r" rtl="1" eaLnBrk="1" hangingPunct="1">
        <a:buChar char="•"/>
        <a:defRPr sz="2000"/>
      </a:lvl7pPr>
      <a:lvl8pPr marL="3429000" indent="-228600" algn="r" rtl="1" eaLnBrk="1" hangingPunct="1">
        <a:buChar char="•"/>
        <a:defRPr sz="2000"/>
      </a:lvl8pPr>
      <a:lvl9pPr marL="3886200" indent="-228600" algn="r" rtl="1" eaLnBrk="1" hangingPunct="1">
        <a:buChar char="•"/>
        <a:defRPr sz="2000"/>
      </a:lvl9pPr>
    </p:bodyStyle>
    <p:otherStyle>
      <a:defPPr>
        <a:defRPr>
          <a:solidFill>
            <a:schemeClr val="tx1"/>
          </a:solidFill>
          <a:latin typeface="+mn-lt"/>
          <a:ea typeface="+mn-ea"/>
          <a:cs typeface="+mn-cs"/>
        </a:defRPr>
      </a:defPPr>
      <a:lvl1pPr marL="0" algn="r" rtl="1" eaLnBrk="1" hangingPunct="1"/>
      <a:lvl2pPr marL="457200" algn="r" rtl="1" eaLnBrk="1" hangingPunct="1"/>
      <a:lvl3pPr marL="914400" algn="r" rtl="1" eaLnBrk="1" hangingPunct="1"/>
      <a:lvl4pPr marL="1371600" algn="r" rtl="1" eaLnBrk="1" hangingPunct="1"/>
      <a:lvl5pPr marL="1828800" algn="r" rtl="1" eaLnBrk="1" hangingPunct="1"/>
      <a:lvl6pPr marL="2286000" algn="r" rtl="1" eaLnBrk="1" hangingPunct="1"/>
      <a:lvl7pPr marL="2743200" algn="r" rtl="1" eaLnBrk="1" hangingPunct="1"/>
      <a:lvl8pPr marL="3200400" algn="r" rtl="1" eaLnBrk="1" hangingPunct="1"/>
      <a:lvl9pPr marL="3657600" algn="r" rtl="1" eaLnBrk="1" hangingPunct="1"/>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BEEBAAA-29B5-4AF5-BC5F-7E580C29002D}" type="datetimeFigureOut">
              <a:rPr lang="en-US" smtClean="0"/>
              <a:pPr/>
              <a:t>1/1/2004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860EDB8-5305-433F-BE41-D7A86D811DB3}"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52972710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1237130" y="4521732"/>
            <a:ext cx="8024106" cy="897434"/>
          </a:xfrm>
        </p:spPr>
        <p:txBody>
          <a:bodyPr/>
          <a:lstStyle/>
          <a:p>
            <a:pPr marL="0" indent="0" algn="ctr">
              <a:buNone/>
            </a:pPr>
            <a:r>
              <a:rPr lang="en-US" b="1" dirty="0">
                <a:solidFill>
                  <a:srgbClr val="FF0000"/>
                </a:solidFill>
              </a:rPr>
              <a:t> Course Name / Recombinant DNA technology- MBBMBR213</a:t>
            </a:r>
            <a:endParaRPr lang="en-US" b="1" dirty="0" smtClean="0">
              <a:solidFill>
                <a:srgbClr val="FF0000"/>
              </a:solidFill>
            </a:endParaRPr>
          </a:p>
        </p:txBody>
      </p:sp>
      <p:sp>
        <p:nvSpPr>
          <p:cNvPr id="4" name="Rectangle 3"/>
          <p:cNvSpPr/>
          <p:nvPr/>
        </p:nvSpPr>
        <p:spPr>
          <a:xfrm>
            <a:off x="1013359" y="1909483"/>
            <a:ext cx="7603785" cy="1938992"/>
          </a:xfrm>
          <a:prstGeom prst="rect">
            <a:avLst/>
          </a:prstGeom>
        </p:spPr>
        <p:txBody>
          <a:bodyPr wrap="square">
            <a:spAutoFit/>
          </a:bodyPr>
          <a:lstStyle/>
          <a:p>
            <a:pPr algn="ctr"/>
            <a:r>
              <a:rPr lang="en-US" sz="2400" b="1" dirty="0" smtClean="0">
                <a:solidFill>
                  <a:srgbClr val="000000"/>
                </a:solidFill>
                <a:latin typeface="Calibri-Bold"/>
              </a:rPr>
              <a:t> Prof. Dr. </a:t>
            </a:r>
            <a:r>
              <a:rPr lang="en-US" sz="2400" b="1" dirty="0">
                <a:solidFill>
                  <a:srgbClr val="000000"/>
                </a:solidFill>
                <a:latin typeface="Calibri-Bold"/>
              </a:rPr>
              <a:t>Samar HassabAllah kassem</a:t>
            </a:r>
          </a:p>
          <a:p>
            <a:pPr algn="ctr"/>
            <a:r>
              <a:rPr lang="en-US" sz="2400" dirty="0">
                <a:solidFill>
                  <a:srgbClr val="000000"/>
                </a:solidFill>
              </a:rPr>
              <a:t>Biotechnology Program</a:t>
            </a:r>
          </a:p>
          <a:p>
            <a:pPr algn="ctr"/>
            <a:r>
              <a:rPr lang="en-US" sz="2400" dirty="0">
                <a:solidFill>
                  <a:srgbClr val="000000"/>
                </a:solidFill>
              </a:rPr>
              <a:t>Faculty of Applied </a:t>
            </a:r>
            <a:r>
              <a:rPr lang="en-US" sz="2400" dirty="0" smtClean="0">
                <a:solidFill>
                  <a:srgbClr val="000000"/>
                </a:solidFill>
              </a:rPr>
              <a:t>Health </a:t>
            </a:r>
            <a:r>
              <a:rPr lang="en-US" sz="2400" dirty="0">
                <a:solidFill>
                  <a:srgbClr val="000000"/>
                </a:solidFill>
              </a:rPr>
              <a:t>Sciences Technology</a:t>
            </a:r>
          </a:p>
          <a:p>
            <a:pPr algn="ctr"/>
            <a:r>
              <a:rPr lang="en-GB" sz="2400" dirty="0">
                <a:solidFill>
                  <a:srgbClr val="000000"/>
                </a:solidFill>
              </a:rPr>
              <a:t>October 6 University</a:t>
            </a:r>
          </a:p>
          <a:p>
            <a:pPr algn="ctr"/>
            <a:r>
              <a:rPr lang="en-US" sz="2400" b="1" smtClean="0">
                <a:solidFill>
                  <a:srgbClr val="9DBFBE">
                    <a:lumMod val="50000"/>
                  </a:srgbClr>
                </a:solidFill>
              </a:rPr>
              <a:t>Drsamarkassem.ams@o6u.edu.eg</a:t>
            </a:r>
            <a:endParaRPr lang="en-US" sz="2400" b="1" dirty="0">
              <a:solidFill>
                <a:srgbClr val="9DBFBE">
                  <a:lumMod val="50000"/>
                </a:srgbClr>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9010791" y="1909483"/>
            <a:ext cx="2173374" cy="1664296"/>
          </a:xfrm>
          <a:prstGeom prst="rect">
            <a:avLst/>
          </a:prstGeom>
        </p:spPr>
      </p:pic>
    </p:spTree>
    <p:extLst>
      <p:ext uri="{BB962C8B-B14F-4D97-AF65-F5344CB8AC3E}">
        <p14:creationId xmlns:p14="http://schemas.microsoft.com/office/powerpoint/2010/main" xmlns="" val="3827164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rPr>
              <a:t>Scores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40: final</a:t>
            </a:r>
          </a:p>
          <a:p>
            <a:r>
              <a:rPr lang="en-US" dirty="0" smtClean="0"/>
              <a:t>20: Practical</a:t>
            </a:r>
          </a:p>
          <a:p>
            <a:r>
              <a:rPr lang="en-US" dirty="0" smtClean="0"/>
              <a:t>20: Mid term</a:t>
            </a:r>
          </a:p>
          <a:p>
            <a:r>
              <a:rPr lang="en-US" dirty="0" smtClean="0"/>
              <a:t>2o: assignment – project - quiz- activities</a:t>
            </a:r>
          </a:p>
          <a:p>
            <a:endParaRPr lang="en-US" dirty="0"/>
          </a:p>
        </p:txBody>
      </p:sp>
    </p:spTree>
    <p:extLst>
      <p:ext uri="{BB962C8B-B14F-4D97-AF65-F5344CB8AC3E}">
        <p14:creationId xmlns:p14="http://schemas.microsoft.com/office/powerpoint/2010/main" xmlns="" val="1207239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GB" b="1" dirty="0" smtClean="0">
                <a:solidFill>
                  <a:srgbClr val="FF0000"/>
                </a:solidFill>
              </a:rPr>
              <a:t>Definition </a:t>
            </a:r>
            <a:r>
              <a:rPr lang="en-GB" b="1" dirty="0">
                <a:solidFill>
                  <a:srgbClr val="FF0000"/>
                </a:solidFill>
              </a:rPr>
              <a:t/>
            </a:r>
            <a:br>
              <a:rPr lang="en-GB" b="1"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838200" y="1825625"/>
            <a:ext cx="10134600" cy="4351338"/>
          </a:xfrm>
        </p:spPr>
        <p:txBody>
          <a:bodyPr>
            <a:normAutofit/>
          </a:bodyPr>
          <a:lstStyle/>
          <a:p>
            <a:pPr marL="0" lvl="0" indent="0">
              <a:lnSpc>
                <a:spcPct val="100000"/>
              </a:lnSpc>
              <a:spcBef>
                <a:spcPts val="0"/>
              </a:spcBef>
              <a:buNone/>
            </a:pPr>
            <a:r>
              <a:rPr lang="en-GB" b="1" dirty="0" smtClean="0">
                <a:solidFill>
                  <a:prstClr val="black"/>
                </a:solidFill>
              </a:rPr>
              <a:t>Recombinant </a:t>
            </a:r>
            <a:r>
              <a:rPr lang="en-GB" b="1" dirty="0">
                <a:solidFill>
                  <a:prstClr val="black"/>
                </a:solidFill>
              </a:rPr>
              <a:t>DNA technology are known as genetic engineering or gene cloning, refers to the process of artificially combining DNA from different sources to create new genetic combinations. This technology has revolutionized biotechnology, medicine, agriculture, and scientific research.</a:t>
            </a:r>
          </a:p>
          <a:p>
            <a:endParaRPr lang="en-US" dirty="0"/>
          </a:p>
        </p:txBody>
      </p:sp>
    </p:spTree>
    <p:extLst>
      <p:ext uri="{BB962C8B-B14F-4D97-AF65-F5344CB8AC3E}">
        <p14:creationId xmlns:p14="http://schemas.microsoft.com/office/powerpoint/2010/main" xmlns="" val="199724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6836" y="889560"/>
            <a:ext cx="10515600" cy="1325563"/>
          </a:xfrm>
        </p:spPr>
        <p:txBody>
          <a:bodyPr/>
          <a:lstStyle/>
          <a:p>
            <a:r>
              <a:rPr lang="en-US" b="1" dirty="0" smtClean="0">
                <a:solidFill>
                  <a:srgbClr val="FF0000"/>
                </a:solidFill>
              </a:rPr>
              <a:t>Process of gene cloning</a:t>
            </a:r>
            <a:endParaRPr lang="en-US" b="1" dirty="0">
              <a:solidFill>
                <a:srgbClr val="FF0000"/>
              </a:solidFill>
            </a:endParaRPr>
          </a:p>
        </p:txBody>
      </p:sp>
      <p:sp>
        <p:nvSpPr>
          <p:cNvPr id="5" name="Rectangle 4"/>
          <p:cNvSpPr/>
          <p:nvPr/>
        </p:nvSpPr>
        <p:spPr>
          <a:xfrm>
            <a:off x="806824" y="2335533"/>
            <a:ext cx="10529047" cy="3139321"/>
          </a:xfrm>
          <a:prstGeom prst="rect">
            <a:avLst/>
          </a:prstGeom>
        </p:spPr>
        <p:txBody>
          <a:bodyPr wrap="square">
            <a:spAutoFit/>
          </a:bodyPr>
          <a:lstStyle/>
          <a:p>
            <a:endParaRPr lang="en-GB" dirty="0" smtClean="0"/>
          </a:p>
          <a:p>
            <a:r>
              <a:rPr lang="en-GB" dirty="0" smtClean="0"/>
              <a:t>1</a:t>
            </a:r>
            <a:r>
              <a:rPr lang="en-GB" dirty="0"/>
              <a:t>.</a:t>
            </a:r>
            <a:r>
              <a:rPr lang="en-GB" dirty="0">
                <a:solidFill>
                  <a:srgbClr val="FF0000"/>
                </a:solidFill>
              </a:rPr>
              <a:t> </a:t>
            </a:r>
            <a:r>
              <a:rPr lang="en-GB" b="1" dirty="0">
                <a:solidFill>
                  <a:srgbClr val="FF0000"/>
                </a:solidFill>
              </a:rPr>
              <a:t>Gene Identification and Isolation:</a:t>
            </a:r>
          </a:p>
          <a:p>
            <a:r>
              <a:rPr lang="en-GB" dirty="0" smtClean="0"/>
              <a:t>Scientists </a:t>
            </a:r>
            <a:r>
              <a:rPr lang="en-GB" dirty="0"/>
              <a:t>first identify and isolate the specific gene of interest. This can be a gene coding for a protein, enzyme, hormone, or any other desired trait (e.g., insulin production).</a:t>
            </a:r>
          </a:p>
          <a:p>
            <a:r>
              <a:rPr lang="en-GB" b="1" dirty="0"/>
              <a:t>2. </a:t>
            </a:r>
            <a:r>
              <a:rPr lang="en-GB" b="1" dirty="0">
                <a:solidFill>
                  <a:srgbClr val="FF0000"/>
                </a:solidFill>
              </a:rPr>
              <a:t>Cutting DNA with Restriction Enzymes</a:t>
            </a:r>
            <a:r>
              <a:rPr lang="en-GB" b="1" dirty="0"/>
              <a:t>:</a:t>
            </a:r>
          </a:p>
          <a:p>
            <a:r>
              <a:rPr lang="en-GB" dirty="0" smtClean="0"/>
              <a:t>Specialized </a:t>
            </a:r>
            <a:r>
              <a:rPr lang="en-GB" dirty="0"/>
              <a:t>enzymes known as restriction enzymes are used to cut DNA at specific sequences. These enzymes act like molecular scissors, allowing for precise cuts in the DNA to isolate the gene of interest.</a:t>
            </a:r>
          </a:p>
          <a:p>
            <a:r>
              <a:rPr lang="en-GB" b="1" dirty="0"/>
              <a:t>3. </a:t>
            </a:r>
            <a:r>
              <a:rPr lang="en-GB" b="1" dirty="0">
                <a:solidFill>
                  <a:srgbClr val="FF0000"/>
                </a:solidFill>
              </a:rPr>
              <a:t>Inserting Gene into a Vector:</a:t>
            </a:r>
          </a:p>
          <a:p>
            <a:r>
              <a:rPr lang="en-GB" dirty="0" smtClean="0"/>
              <a:t>Once </a:t>
            </a:r>
            <a:r>
              <a:rPr lang="en-GB" dirty="0"/>
              <a:t>the desired gene is cut out, it is inserted into a vector, which is typically a plasmid (a small, circular piece of DNA found in bacteria). The vector serves as a vehicle to transfer the gene into a host organism.</a:t>
            </a:r>
          </a:p>
          <a:p>
            <a:r>
              <a:rPr lang="en-GB" dirty="0" smtClean="0"/>
              <a:t>The </a:t>
            </a:r>
            <a:r>
              <a:rPr lang="en-GB" dirty="0"/>
              <a:t>enzyme </a:t>
            </a:r>
            <a:r>
              <a:rPr lang="en-GB" dirty="0">
                <a:solidFill>
                  <a:srgbClr val="FF0000"/>
                </a:solidFill>
              </a:rPr>
              <a:t>DNA ligase </a:t>
            </a:r>
            <a:r>
              <a:rPr lang="en-GB" dirty="0"/>
              <a:t>is used to join the DNA fragments together</a:t>
            </a:r>
            <a:r>
              <a:rPr lang="en-GB" dirty="0" smtClean="0"/>
              <a:t>.</a:t>
            </a:r>
            <a:endParaRPr lang="en-GB" dirty="0"/>
          </a:p>
        </p:txBody>
      </p:sp>
    </p:spTree>
    <p:extLst>
      <p:ext uri="{BB962C8B-B14F-4D97-AF65-F5344CB8AC3E}">
        <p14:creationId xmlns:p14="http://schemas.microsoft.com/office/powerpoint/2010/main" xmlns="" val="610682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Process of gene cloning</a:t>
            </a:r>
            <a:endParaRPr lang="en-US" dirty="0"/>
          </a:p>
        </p:txBody>
      </p:sp>
      <p:sp>
        <p:nvSpPr>
          <p:cNvPr id="3" name="Rectangle 2"/>
          <p:cNvSpPr/>
          <p:nvPr/>
        </p:nvSpPr>
        <p:spPr>
          <a:xfrm>
            <a:off x="1075764" y="1966969"/>
            <a:ext cx="10040471" cy="4247317"/>
          </a:xfrm>
          <a:prstGeom prst="rect">
            <a:avLst/>
          </a:prstGeom>
        </p:spPr>
        <p:txBody>
          <a:bodyPr wrap="square">
            <a:spAutoFit/>
          </a:bodyPr>
          <a:lstStyle/>
          <a:p>
            <a:r>
              <a:rPr lang="en-GB" b="1" dirty="0"/>
              <a:t>4. </a:t>
            </a:r>
            <a:r>
              <a:rPr lang="en-GB" b="1" dirty="0">
                <a:solidFill>
                  <a:srgbClr val="FF0000"/>
                </a:solidFill>
              </a:rPr>
              <a:t>Introduction into a Host Cell</a:t>
            </a:r>
            <a:r>
              <a:rPr lang="en-GB" b="1" dirty="0"/>
              <a:t>:</a:t>
            </a:r>
          </a:p>
          <a:p>
            <a:r>
              <a:rPr lang="en-GB" dirty="0" smtClean="0"/>
              <a:t>The </a:t>
            </a:r>
            <a:r>
              <a:rPr lang="en-GB" dirty="0"/>
              <a:t>recombinant DNA (vector + gene) is introduced into a host organism, often bacteria or yeast, through a process called transformation. The host organism will take up the recombinant plasmid and incorporate it into its own DNA.</a:t>
            </a:r>
          </a:p>
          <a:p>
            <a:r>
              <a:rPr lang="en-GB" b="1" dirty="0"/>
              <a:t>5. </a:t>
            </a:r>
            <a:r>
              <a:rPr lang="en-GB" b="1" dirty="0">
                <a:solidFill>
                  <a:srgbClr val="FF0000"/>
                </a:solidFill>
              </a:rPr>
              <a:t>Cloning and Expression:</a:t>
            </a:r>
          </a:p>
          <a:p>
            <a:r>
              <a:rPr lang="en-GB" dirty="0" smtClean="0"/>
              <a:t>Inside </a:t>
            </a:r>
            <a:r>
              <a:rPr lang="en-GB" dirty="0"/>
              <a:t>the host, the recombinant DNA is replicated along with the host's DNA as the cell divides. This results in many copies (or clones) of the gene being produced.</a:t>
            </a:r>
          </a:p>
          <a:p>
            <a:r>
              <a:rPr lang="en-GB" dirty="0" smtClean="0"/>
              <a:t>If </a:t>
            </a:r>
            <a:r>
              <a:rPr lang="en-GB" dirty="0"/>
              <a:t>the recombinant DNA contains a gene coding for a protein, the host organism may begin producing the protein. For example, recombinant insulin is produced by bacteria in this way for medical use in treating diabetes.</a:t>
            </a:r>
          </a:p>
          <a:p>
            <a:r>
              <a:rPr lang="en-GB" b="1" dirty="0"/>
              <a:t>6. </a:t>
            </a:r>
            <a:r>
              <a:rPr lang="en-GB" b="1" dirty="0">
                <a:solidFill>
                  <a:srgbClr val="FF0000"/>
                </a:solidFill>
              </a:rPr>
              <a:t>Selection and Screening:</a:t>
            </a:r>
          </a:p>
          <a:p>
            <a:r>
              <a:rPr lang="en-GB" dirty="0" smtClean="0"/>
              <a:t>Not </a:t>
            </a:r>
            <a:r>
              <a:rPr lang="en-GB" dirty="0"/>
              <a:t>all host cells will take up the recombinant DNA, so scientists use selection markers (like antibiotic resistance genes) to identify the cells that have successfully incorporated the new DNA.</a:t>
            </a:r>
          </a:p>
          <a:p>
            <a:r>
              <a:rPr lang="en-GB" dirty="0" smtClean="0"/>
              <a:t>Screening </a:t>
            </a:r>
            <a:r>
              <a:rPr lang="en-GB" dirty="0"/>
              <a:t>methods, such as PCR (Polymerase Chain Reaction) or gel electrophoresis, are used to confirm that the correct gene is present.</a:t>
            </a:r>
          </a:p>
        </p:txBody>
      </p:sp>
    </p:spTree>
    <p:extLst>
      <p:ext uri="{BB962C8B-B14F-4D97-AF65-F5344CB8AC3E}">
        <p14:creationId xmlns:p14="http://schemas.microsoft.com/office/powerpoint/2010/main" xmlns="" val="350928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2388" y="528366"/>
            <a:ext cx="10522424" cy="6041334"/>
          </a:xfrm>
          <a:prstGeom prst="rect">
            <a:avLst/>
          </a:prstGeom>
        </p:spPr>
        <p:txBody>
          <a:bodyPr wrap="square">
            <a:spAutoFit/>
          </a:bodyPr>
          <a:lstStyle/>
          <a:p>
            <a:pPr marL="73660" marR="4445" lvl="0" indent="-6350" algn="ctr" defTabSz="914400" rtl="0" eaLnBrk="1" fontAlgn="auto" latinLnBrk="0" hangingPunct="1">
              <a:lnSpc>
                <a:spcPct val="107000"/>
              </a:lnSpc>
              <a:spcBef>
                <a:spcPts val="0"/>
              </a:spcBef>
              <a:spcAft>
                <a:spcPts val="205"/>
              </a:spcAft>
              <a:buClrTx/>
              <a:buSzTx/>
              <a:buFontTx/>
              <a:buNone/>
              <a:tabLst/>
              <a:defRPr/>
            </a:pPr>
            <a:r>
              <a:rPr kumimoji="0" lang="en-US" sz="2400" b="1" i="0" u="none" strike="noStrike" kern="1200" cap="none" spc="0" normalizeH="0" baseline="0" noProof="0" dirty="0" smtClean="0">
                <a:ln>
                  <a:noFill/>
                </a:ln>
                <a:solidFill>
                  <a:srgbClr val="000000"/>
                </a:solidFill>
                <a:effectLst/>
                <a:uLnTx/>
                <a:uFillTx/>
                <a:latin typeface="Calibri" panose="020F0502020204030204" pitchFamily="34" charset="0"/>
                <a:ea typeface="Calibri" panose="020F0502020204030204" pitchFamily="34" charset="0"/>
                <a:cs typeface="+mn-cs"/>
              </a:rPr>
              <a:t>Genetic Engineering </a:t>
            </a:r>
          </a:p>
          <a:p>
            <a:pPr marL="111125" marR="0" lvl="0" indent="0" algn="ctr" defTabSz="914400" rtl="0" eaLnBrk="1" fontAlgn="auto" latinLnBrk="0" hangingPunct="1">
              <a:lnSpc>
                <a:spcPct val="107000"/>
              </a:lnSpc>
              <a:spcBef>
                <a:spcPts val="0"/>
              </a:spcBef>
              <a:spcAft>
                <a:spcPts val="630"/>
              </a:spcAft>
              <a:buClrTx/>
              <a:buSzTx/>
              <a:buFontTx/>
              <a:buNone/>
              <a:tabLst/>
              <a:defRPr/>
            </a:pPr>
            <a:r>
              <a:rPr kumimoji="0" lang="en-US" sz="2000" b="1" i="0" u="none" strike="noStrike" kern="1200" cap="none" spc="0" normalizeH="0" baseline="0" noProof="0" dirty="0" smtClean="0">
                <a:ln>
                  <a:noFill/>
                </a:ln>
                <a:solidFill>
                  <a:srgbClr val="000000"/>
                </a:solidFill>
                <a:effectLst/>
                <a:uLnTx/>
                <a:uFillTx/>
                <a:latin typeface="Times New Roman" panose="02020603050405020304" pitchFamily="18" charset="0"/>
                <a:ea typeface="Times New Roman" panose="02020603050405020304" pitchFamily="18" charset="0"/>
                <a:cs typeface="+mn-cs"/>
              </a:rPr>
              <a:t> </a:t>
            </a: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endParaRPr>
          </a:p>
          <a:p>
            <a:pPr marL="342900" marR="30480" lvl="0" indent="-342900" algn="just" defTabSz="914400" rtl="0" eaLnBrk="1" fontAlgn="auto" latinLnBrk="0" hangingPunct="1">
              <a:lnSpc>
                <a:spcPct val="130000"/>
              </a:lnSpc>
              <a:spcBef>
                <a:spcPts val="0"/>
              </a:spcBef>
              <a:spcAft>
                <a:spcPts val="520"/>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The human genome has enough DNA to code for approximately 2X 105 genes of about 15,000 bass </a:t>
            </a:r>
            <a:r>
              <a:rPr kumimoji="0" lang="en-US" sz="2400" b="0" i="0" u="none" strike="noStrike" kern="1200" cap="none" spc="0" normalizeH="0" baseline="30000" noProof="0" dirty="0" err="1">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pari</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each. </a:t>
            </a:r>
          </a:p>
          <a:p>
            <a:pPr marL="342900" marR="30480" lvl="0" indent="-342900" algn="just" defTabSz="914400" rtl="0" eaLnBrk="1" fontAlgn="auto" latinLnBrk="0" hangingPunct="1">
              <a:lnSpc>
                <a:spcPct val="130000"/>
              </a:lnSpc>
              <a:spcBef>
                <a:spcPts val="0"/>
              </a:spcBef>
              <a:spcAft>
                <a:spcPts val="530"/>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One of the most controversial issues in nucleic acid research today has been generated by the development of techniques that enable the molecular biologist to insert DNA segments, from any source, into the DNA of bacteria and other cell types including mammalian cells maintained in tissue culture.</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One example is</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gene cloning</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which means isolation of individual genes from the entire genome and its insertion into certain acceptors known as </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vectors </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like </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plasmids.</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a:t>
            </a:r>
          </a:p>
          <a:p>
            <a:pPr marL="342900" marR="30480" lvl="0" indent="-342900" algn="just" defTabSz="914400" rtl="0" eaLnBrk="1" fontAlgn="auto" latinLnBrk="0" hangingPunct="1">
              <a:lnSpc>
                <a:spcPct val="130000"/>
              </a:lnSpc>
              <a:spcBef>
                <a:spcPts val="0"/>
              </a:spcBef>
              <a:spcAft>
                <a:spcPts val="535"/>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The DNA product of such manipulation is called </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recombinant DNA</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the technique is popularly known as gene splicing. </a:t>
            </a:r>
          </a:p>
          <a:p>
            <a:pPr marL="342900" marR="30480" lvl="0" indent="-342900" algn="just" defTabSz="914400" rtl="0" eaLnBrk="1" fontAlgn="auto" latinLnBrk="0" hangingPunct="1">
              <a:lnSpc>
                <a:spcPct val="130000"/>
              </a:lnSpc>
              <a:spcBef>
                <a:spcPts val="0"/>
              </a:spcBef>
              <a:spcAft>
                <a:spcPts val="540"/>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As previously mentioned, the insertion of sections of DNA into a DNA molecule became a reality with the discovery and isolation of a group of remarkable bacterial enzymes, known as </a:t>
            </a:r>
            <a:r>
              <a:rPr kumimoji="0" lang="en-US" sz="2400" b="1"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restriction endonucleases</a:t>
            </a: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 that have the ability to cleave DNA molecules at certain sites with highly specific base sequences. </a:t>
            </a:r>
          </a:p>
          <a:p>
            <a:pPr marL="342900" marR="30480" lvl="0" indent="-342900" algn="just" defTabSz="914400" rtl="0" eaLnBrk="1" fontAlgn="auto" latinLnBrk="0" hangingPunct="1">
              <a:lnSpc>
                <a:spcPct val="130000"/>
              </a:lnSpc>
              <a:spcBef>
                <a:spcPts val="0"/>
              </a:spcBef>
              <a:spcAft>
                <a:spcPts val="540"/>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Such enzymes are synthesized by many microorganisms to digest the DNA of any invading viruses. </a:t>
            </a:r>
          </a:p>
          <a:p>
            <a:pPr marL="342900" marR="30480" lvl="0" indent="-342900" algn="just" defTabSz="914400" rtl="0" eaLnBrk="1" fontAlgn="auto" latinLnBrk="0" hangingPunct="1">
              <a:lnSpc>
                <a:spcPct val="130000"/>
              </a:lnSpc>
              <a:spcBef>
                <a:spcPts val="0"/>
              </a:spcBef>
              <a:spcAft>
                <a:spcPts val="540"/>
              </a:spcAft>
              <a:buClr>
                <a:srgbClr val="000000"/>
              </a:buClr>
              <a:buSzPts val="2050"/>
              <a:buFont typeface="Arial" panose="020B0604020202020204" pitchFamily="34" charset="0"/>
              <a:buChar char="•"/>
              <a:tabLst/>
              <a:defRPr/>
            </a:pPr>
            <a:r>
              <a:rPr kumimoji="0" lang="en-US" sz="2400" b="0" i="0" u="none" strike="noStrike" kern="1200" cap="none" spc="0" normalizeH="0" baseline="30000" noProof="0" dirty="0">
                <a:ln>
                  <a:noFill/>
                </a:ln>
                <a:solidFill>
                  <a:srgbClr val="000000"/>
                </a:solidFill>
                <a:effectLst/>
                <a:uLnTx/>
                <a:uFill>
                  <a:solidFill>
                    <a:srgbClr val="000000"/>
                  </a:solidFill>
                </a:uFill>
                <a:latin typeface="Arial" panose="020B0604020202020204" pitchFamily="34" charset="0"/>
                <a:ea typeface="Arial" panose="020B0604020202020204" pitchFamily="34" charset="0"/>
                <a:cs typeface="Arial" panose="020B0604020202020204" pitchFamily="34" charset="0"/>
              </a:rPr>
              <a:t>When a DNA molecule is cleaved by a restriction enzyme, the cut ends are "Sticky"; and the molecule will recombine, by complementary base pairing, with another DNA segment that has been cleaved by the same enzyme. </a:t>
            </a:r>
          </a:p>
        </p:txBody>
      </p:sp>
    </p:spTree>
    <p:extLst>
      <p:ext uri="{BB962C8B-B14F-4D97-AF65-F5344CB8AC3E}">
        <p14:creationId xmlns:p14="http://schemas.microsoft.com/office/powerpoint/2010/main" xmlns="" val="1455503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100263" y="1685925"/>
            <a:ext cx="8229600" cy="4343399"/>
            <a:chOff x="0" y="0"/>
            <a:chExt cx="4133846" cy="5649243"/>
          </a:xfrm>
        </p:grpSpPr>
        <p:pic>
          <p:nvPicPr>
            <p:cNvPr id="3" name="Picture 2"/>
            <p:cNvPicPr/>
            <p:nvPr/>
          </p:nvPicPr>
          <p:blipFill>
            <a:blip r:embed="rId2"/>
            <a:stretch>
              <a:fillRect/>
            </a:stretch>
          </p:blipFill>
          <p:spPr>
            <a:xfrm>
              <a:off x="16764" y="16764"/>
              <a:ext cx="4043172" cy="5527548"/>
            </a:xfrm>
            <a:prstGeom prst="rect">
              <a:avLst/>
            </a:prstGeom>
          </p:spPr>
        </p:pic>
        <p:sp>
          <p:nvSpPr>
            <p:cNvPr id="4" name="Shape 96737"/>
            <p:cNvSpPr/>
            <p:nvPr/>
          </p:nvSpPr>
          <p:spPr>
            <a:xfrm>
              <a:off x="0" y="0"/>
              <a:ext cx="16758" cy="16758"/>
            </a:xfrm>
            <a:custGeom>
              <a:avLst/>
              <a:gdLst/>
              <a:ahLst/>
              <a:cxnLst/>
              <a:rect l="0" t="0" r="0" b="0"/>
              <a:pathLst>
                <a:path w="16758" h="16758">
                  <a:moveTo>
                    <a:pt x="0" y="0"/>
                  </a:moveTo>
                  <a:lnTo>
                    <a:pt x="16758" y="0"/>
                  </a:lnTo>
                  <a:lnTo>
                    <a:pt x="16758"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 name="Shape 96738"/>
            <p:cNvSpPr/>
            <p:nvPr/>
          </p:nvSpPr>
          <p:spPr>
            <a:xfrm>
              <a:off x="16764" y="0"/>
              <a:ext cx="4044696" cy="16758"/>
            </a:xfrm>
            <a:custGeom>
              <a:avLst/>
              <a:gdLst/>
              <a:ahLst/>
              <a:cxnLst/>
              <a:rect l="0" t="0" r="0" b="0"/>
              <a:pathLst>
                <a:path w="4044696" h="16758">
                  <a:moveTo>
                    <a:pt x="0" y="0"/>
                  </a:moveTo>
                  <a:lnTo>
                    <a:pt x="4044696" y="0"/>
                  </a:lnTo>
                  <a:lnTo>
                    <a:pt x="4044696"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 name="Shape 96739"/>
            <p:cNvSpPr/>
            <p:nvPr/>
          </p:nvSpPr>
          <p:spPr>
            <a:xfrm>
              <a:off x="4061460" y="0"/>
              <a:ext cx="16758" cy="16758"/>
            </a:xfrm>
            <a:custGeom>
              <a:avLst/>
              <a:gdLst/>
              <a:ahLst/>
              <a:cxnLst/>
              <a:rect l="0" t="0" r="0" b="0"/>
              <a:pathLst>
                <a:path w="16758" h="16758">
                  <a:moveTo>
                    <a:pt x="0" y="0"/>
                  </a:moveTo>
                  <a:lnTo>
                    <a:pt x="16758" y="0"/>
                  </a:lnTo>
                  <a:lnTo>
                    <a:pt x="16758"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 name="Shape 96740"/>
            <p:cNvSpPr/>
            <p:nvPr/>
          </p:nvSpPr>
          <p:spPr>
            <a:xfrm>
              <a:off x="0" y="16752"/>
              <a:ext cx="16758" cy="5529072"/>
            </a:xfrm>
            <a:custGeom>
              <a:avLst/>
              <a:gdLst/>
              <a:ahLst/>
              <a:cxnLst/>
              <a:rect l="0" t="0" r="0" b="0"/>
              <a:pathLst>
                <a:path w="16758" h="5529072">
                  <a:moveTo>
                    <a:pt x="0" y="0"/>
                  </a:moveTo>
                  <a:lnTo>
                    <a:pt x="16758" y="0"/>
                  </a:lnTo>
                  <a:lnTo>
                    <a:pt x="16758" y="5529072"/>
                  </a:lnTo>
                  <a:lnTo>
                    <a:pt x="0" y="5529072"/>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 name="Shape 96741"/>
            <p:cNvSpPr/>
            <p:nvPr/>
          </p:nvSpPr>
          <p:spPr>
            <a:xfrm>
              <a:off x="4061460" y="16752"/>
              <a:ext cx="16758" cy="5529072"/>
            </a:xfrm>
            <a:custGeom>
              <a:avLst/>
              <a:gdLst/>
              <a:ahLst/>
              <a:cxnLst/>
              <a:rect l="0" t="0" r="0" b="0"/>
              <a:pathLst>
                <a:path w="16758" h="5529072">
                  <a:moveTo>
                    <a:pt x="0" y="0"/>
                  </a:moveTo>
                  <a:lnTo>
                    <a:pt x="16758" y="0"/>
                  </a:lnTo>
                  <a:lnTo>
                    <a:pt x="16758" y="5529072"/>
                  </a:lnTo>
                  <a:lnTo>
                    <a:pt x="0" y="5529072"/>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 name="Shape 96742"/>
            <p:cNvSpPr/>
            <p:nvPr/>
          </p:nvSpPr>
          <p:spPr>
            <a:xfrm>
              <a:off x="0" y="5545830"/>
              <a:ext cx="16758" cy="16758"/>
            </a:xfrm>
            <a:custGeom>
              <a:avLst/>
              <a:gdLst/>
              <a:ahLst/>
              <a:cxnLst/>
              <a:rect l="0" t="0" r="0" b="0"/>
              <a:pathLst>
                <a:path w="16758" h="16758">
                  <a:moveTo>
                    <a:pt x="0" y="0"/>
                  </a:moveTo>
                  <a:lnTo>
                    <a:pt x="16758" y="0"/>
                  </a:lnTo>
                  <a:lnTo>
                    <a:pt x="16758"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 name="Shape 96743"/>
            <p:cNvSpPr/>
            <p:nvPr/>
          </p:nvSpPr>
          <p:spPr>
            <a:xfrm>
              <a:off x="16764" y="5545830"/>
              <a:ext cx="4044696" cy="16758"/>
            </a:xfrm>
            <a:custGeom>
              <a:avLst/>
              <a:gdLst/>
              <a:ahLst/>
              <a:cxnLst/>
              <a:rect l="0" t="0" r="0" b="0"/>
              <a:pathLst>
                <a:path w="4044696" h="16758">
                  <a:moveTo>
                    <a:pt x="0" y="0"/>
                  </a:moveTo>
                  <a:lnTo>
                    <a:pt x="4044696" y="0"/>
                  </a:lnTo>
                  <a:lnTo>
                    <a:pt x="4044696"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 name="Shape 96744"/>
            <p:cNvSpPr/>
            <p:nvPr/>
          </p:nvSpPr>
          <p:spPr>
            <a:xfrm>
              <a:off x="4061460" y="5545830"/>
              <a:ext cx="16758" cy="16758"/>
            </a:xfrm>
            <a:custGeom>
              <a:avLst/>
              <a:gdLst/>
              <a:ahLst/>
              <a:cxnLst/>
              <a:rect l="0" t="0" r="0" b="0"/>
              <a:pathLst>
                <a:path w="16758" h="16758">
                  <a:moveTo>
                    <a:pt x="0" y="0"/>
                  </a:moveTo>
                  <a:lnTo>
                    <a:pt x="16758" y="0"/>
                  </a:lnTo>
                  <a:lnTo>
                    <a:pt x="16758" y="16758"/>
                  </a:lnTo>
                  <a:lnTo>
                    <a:pt x="0" y="16758"/>
                  </a:lnTo>
                  <a:lnTo>
                    <a:pt x="0" y="0"/>
                  </a:lnTo>
                </a:path>
              </a:pathLst>
            </a:custGeom>
            <a:solidFill>
              <a:srgbClr val="000000"/>
            </a:solidFill>
            <a:ln w="0" cap="flat">
              <a:noFill/>
              <a:miter lim="127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 name="Rectangle 11"/>
            <p:cNvSpPr/>
            <p:nvPr/>
          </p:nvSpPr>
          <p:spPr>
            <a:xfrm>
              <a:off x="4078222" y="5447283"/>
              <a:ext cx="55624" cy="201960"/>
            </a:xfrm>
            <a:prstGeom prst="rect">
              <a:avLst/>
            </a:prstGeom>
            <a:ln>
              <a:noFill/>
            </a:ln>
          </p:spPr>
          <p:txBody>
            <a:bodyPr vert="horz" lIns="0" tIns="0" rIns="0" bIns="0" rtlCol="0">
              <a:noAutofit/>
            </a:bodyPr>
            <a:lstStyle/>
            <a:p>
              <a:pPr marL="0" marR="0" lvl="0" indent="0" algn="l" defTabSz="914400" eaLnBrk="1" fontAlgn="auto" latinLnBrk="0" hangingPunct="1">
                <a:lnSpc>
                  <a:spcPct val="107000"/>
                </a:lnSpc>
                <a:spcBef>
                  <a:spcPts val="0"/>
                </a:spcBef>
                <a:spcAft>
                  <a:spcPts val="800"/>
                </a:spcAft>
                <a:buClrTx/>
                <a:buSzTx/>
                <a:buFontTx/>
                <a:buNone/>
                <a:tabLst/>
                <a:defRPr/>
              </a:pPr>
              <a:r>
                <a:rPr kumimoji="0" lang="en-US" sz="13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grpSp>
      <p:sp>
        <p:nvSpPr>
          <p:cNvPr id="13" name="Title 12"/>
          <p:cNvSpPr>
            <a:spLocks noGrp="1"/>
          </p:cNvSpPr>
          <p:nvPr>
            <p:ph type="title"/>
          </p:nvPr>
        </p:nvSpPr>
        <p:spPr>
          <a:xfrm>
            <a:off x="1500188" y="771771"/>
            <a:ext cx="9853612" cy="279107"/>
          </a:xfrm>
        </p:spPr>
        <p:txBody>
          <a:bodyPr>
            <a:normAutofit fontScale="90000"/>
          </a:bodyPr>
          <a:lstStyle/>
          <a:p>
            <a:r>
              <a:rPr lang="en-US" dirty="0" smtClean="0"/>
              <a:t>Genetic engineering</a:t>
            </a:r>
            <a:endParaRPr lang="en-US" dirty="0"/>
          </a:p>
        </p:txBody>
      </p:sp>
    </p:spTree>
    <p:extLst>
      <p:ext uri="{BB962C8B-B14F-4D97-AF65-F5344CB8AC3E}">
        <p14:creationId xmlns:p14="http://schemas.microsoft.com/office/powerpoint/2010/main" xmlns="" val="4042700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c0a03ac6d4e1ee1cb02073866e48527.gif"/>
          <p:cNvPicPr>
            <a:picLocks noGrp="1" noChangeAspect="1"/>
          </p:cNvPicPr>
          <p:nvPr>
            <p:ph idx="1"/>
          </p:nvPr>
        </p:nvPicPr>
        <p:blipFill>
          <a:blip r:embed="rId2"/>
          <a:stretch>
            <a:fillRect/>
          </a:stretch>
        </p:blipFill>
        <p:spPr>
          <a:xfrm>
            <a:off x="2711624" y="476672"/>
            <a:ext cx="6696744" cy="5328592"/>
          </a:xfrm>
        </p:spPr>
      </p:pic>
    </p:spTree>
    <p:extLst>
      <p:ext uri="{BB962C8B-B14F-4D97-AF65-F5344CB8AC3E}">
        <p14:creationId xmlns:p14="http://schemas.microsoft.com/office/powerpoint/2010/main" xmlns="" val="2931388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marL="0" indent="0" algn="l" rtl="0">
              <a:buNone/>
            </a:pPr>
            <a:endParaRPr lang="en-US" dirty="0"/>
          </a:p>
          <a:p>
            <a:pPr marL="0" indent="0" algn="l" rtl="0">
              <a:buNone/>
            </a:pPr>
            <a:r>
              <a:rPr lang="en-US" dirty="0"/>
              <a:t>1.	Isolation of donor DNA fragment or gene.</a:t>
            </a:r>
          </a:p>
          <a:p>
            <a:pPr marL="0" indent="0" algn="l" rtl="0">
              <a:buNone/>
            </a:pPr>
            <a:r>
              <a:rPr lang="en-US" dirty="0"/>
              <a:t>2.	Selection of suitable vector.</a:t>
            </a:r>
          </a:p>
          <a:p>
            <a:pPr marL="0" indent="0" algn="l" rtl="0">
              <a:buNone/>
            </a:pPr>
            <a:r>
              <a:rPr lang="en-US" dirty="0"/>
              <a:t>3.	Incorporation of donor DNA fragment into the vector.</a:t>
            </a:r>
          </a:p>
          <a:p>
            <a:pPr marL="0" indent="0" algn="l" rtl="0">
              <a:buNone/>
            </a:pPr>
            <a:r>
              <a:rPr lang="en-US" dirty="0"/>
              <a:t>4.	Transformation of recombinant vector into a suitable host cell.</a:t>
            </a:r>
          </a:p>
          <a:p>
            <a:pPr marL="0" indent="0" algn="l" rtl="0">
              <a:buNone/>
            </a:pPr>
            <a:r>
              <a:rPr lang="en-US" dirty="0"/>
              <a:t>5.	Isolation of recombinant host cell.</a:t>
            </a:r>
          </a:p>
          <a:p>
            <a:pPr marL="0" indent="0" algn="l" rtl="0">
              <a:buNone/>
            </a:pPr>
            <a:endParaRPr lang="en-US" dirty="0"/>
          </a:p>
        </p:txBody>
      </p:sp>
      <p:sp>
        <p:nvSpPr>
          <p:cNvPr id="3" name="Title 2"/>
          <p:cNvSpPr>
            <a:spLocks noGrp="1"/>
          </p:cNvSpPr>
          <p:nvPr>
            <p:ph type="title"/>
          </p:nvPr>
        </p:nvSpPr>
        <p:spPr/>
        <p:txBody>
          <a:bodyPr>
            <a:normAutofit fontScale="90000"/>
          </a:bodyPr>
          <a:lstStyle/>
          <a:p>
            <a:r>
              <a:rPr lang="en-US" dirty="0">
                <a:solidFill>
                  <a:srgbClr val="FF0000"/>
                </a:solidFill>
              </a:rPr>
              <a:t>Steps involved in gene cloning</a:t>
            </a:r>
            <a:br>
              <a:rPr lang="en-US" dirty="0">
                <a:solidFill>
                  <a:srgbClr val="FF0000"/>
                </a:solidFill>
              </a:rPr>
            </a:br>
            <a:endParaRPr lang="en-US" dirty="0">
              <a:solidFill>
                <a:srgbClr val="FF0000"/>
              </a:solidFill>
            </a:endParaRPr>
          </a:p>
        </p:txBody>
      </p:sp>
    </p:spTree>
    <p:extLst>
      <p:ext uri="{BB962C8B-B14F-4D97-AF65-F5344CB8AC3E}">
        <p14:creationId xmlns:p14="http://schemas.microsoft.com/office/powerpoint/2010/main" xmlns="" val="3021373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lgn="l"/>
            <a:r>
              <a:rPr lang="en-GB" dirty="0" smtClean="0"/>
              <a:t>:</a:t>
            </a:r>
            <a:endParaRPr lang="en-GB" dirty="0"/>
          </a:p>
          <a:p>
            <a:pPr algn="l"/>
            <a:r>
              <a:rPr lang="en-GB" dirty="0"/>
              <a:t>•	Medicine: Producing insulin, human growth hormone, clotting factors, and vaccines.</a:t>
            </a:r>
          </a:p>
          <a:p>
            <a:pPr algn="l"/>
            <a:r>
              <a:rPr lang="en-GB" dirty="0"/>
              <a:t>•	Agriculture: Genetically modified crops with enhanced traits such as pest resistance or increased yield.</a:t>
            </a:r>
          </a:p>
          <a:p>
            <a:pPr algn="l"/>
            <a:r>
              <a:rPr lang="en-GB" dirty="0"/>
              <a:t>•	Research: Studying gene functions, creating gene therapies, and investigating genetic diseases.</a:t>
            </a:r>
          </a:p>
          <a:p>
            <a:endParaRPr lang="en-US" dirty="0"/>
          </a:p>
        </p:txBody>
      </p:sp>
      <p:sp>
        <p:nvSpPr>
          <p:cNvPr id="3" name="Title 2"/>
          <p:cNvSpPr>
            <a:spLocks noGrp="1"/>
          </p:cNvSpPr>
          <p:nvPr>
            <p:ph type="title"/>
          </p:nvPr>
        </p:nvSpPr>
        <p:spPr/>
        <p:txBody>
          <a:bodyPr/>
          <a:lstStyle/>
          <a:p>
            <a:r>
              <a:rPr lang="en-GB" b="1" dirty="0">
                <a:solidFill>
                  <a:srgbClr val="FF0000"/>
                </a:solidFill>
              </a:rPr>
              <a:t>Applications of Recombinant DNA Technology</a:t>
            </a:r>
            <a:endParaRPr lang="en-US" b="1" dirty="0">
              <a:solidFill>
                <a:srgbClr val="FF0000"/>
              </a:solidFill>
            </a:endParaRPr>
          </a:p>
        </p:txBody>
      </p:sp>
    </p:spTree>
    <p:extLst>
      <p:ext uri="{BB962C8B-B14F-4D97-AF65-F5344CB8AC3E}">
        <p14:creationId xmlns:p14="http://schemas.microsoft.com/office/powerpoint/2010/main" xmlns="" val="238572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05719" y="773988"/>
            <a:ext cx="7560860" cy="3123163"/>
          </a:xfrm>
          <a:prstGeom prst="rect">
            <a:avLst/>
          </a:prstGeom>
        </p:spPr>
        <p:txBody>
          <a:bodyPr wrap="square">
            <a:spAutoFit/>
          </a:bodyPr>
          <a:lstStyle/>
          <a:p>
            <a:pPr marL="102235" marR="0" indent="-6350">
              <a:lnSpc>
                <a:spcPct val="107000"/>
              </a:lnSpc>
              <a:spcBef>
                <a:spcPts val="0"/>
              </a:spcBef>
              <a:spcAft>
                <a:spcPts val="710"/>
              </a:spcAft>
            </a:pPr>
            <a:r>
              <a:rPr lang="en-US" sz="2800" b="1" dirty="0">
                <a:solidFill>
                  <a:srgbClr val="000000"/>
                </a:solidFill>
                <a:latin typeface="Times New Roman" panose="02020603050405020304" pitchFamily="18" charset="0"/>
                <a:ea typeface="Times New Roman" panose="02020603050405020304" pitchFamily="18" charset="0"/>
              </a:rPr>
              <a:t>Plasmids </a:t>
            </a:r>
          </a:p>
          <a:p>
            <a:pPr marL="342900" marR="30480" lvl="0" indent="-342900" algn="just">
              <a:lnSpc>
                <a:spcPct val="130000"/>
              </a:lnSpc>
              <a:spcBef>
                <a:spcPts val="0"/>
              </a:spcBef>
              <a:spcAft>
                <a:spcPts val="465"/>
              </a:spcAft>
              <a:buClr>
                <a:srgbClr val="000000"/>
              </a:buClr>
              <a:buSzPts val="2050"/>
              <a:buFont typeface="Arial" panose="020B0604020202020204" pitchFamily="34" charset="0"/>
              <a:buChar char="•"/>
            </a:pPr>
            <a:r>
              <a:rPr lang="en-US" sz="2800" baseline="300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Plasmids are small, circular duplex DNA molecules whose natural function is to confer antibiotic resistance to host cell. </a:t>
            </a:r>
          </a:p>
          <a:p>
            <a:pPr marL="342900" marR="30480" lvl="0" indent="-342900" algn="just">
              <a:lnSpc>
                <a:spcPct val="107000"/>
              </a:lnSpc>
              <a:spcBef>
                <a:spcPts val="0"/>
              </a:spcBef>
              <a:spcAft>
                <a:spcPts val="25"/>
              </a:spcAft>
              <a:buClr>
                <a:srgbClr val="000000"/>
              </a:buClr>
              <a:buSzPts val="2050"/>
              <a:buFont typeface="Arial" panose="020B0604020202020204" pitchFamily="34" charset="0"/>
              <a:buChar char="•"/>
            </a:pPr>
            <a:r>
              <a:rPr lang="en-US" sz="2800" baseline="300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Plasmids replicate independently from the bacterial DNA. </a:t>
            </a:r>
          </a:p>
          <a:p>
            <a:pPr marL="342900" marR="30480" lvl="0" indent="-342900" algn="just">
              <a:lnSpc>
                <a:spcPct val="107000"/>
              </a:lnSpc>
              <a:spcBef>
                <a:spcPts val="0"/>
              </a:spcBef>
              <a:spcAft>
                <a:spcPts val="25"/>
              </a:spcAft>
              <a:buClr>
                <a:srgbClr val="000000"/>
              </a:buClr>
              <a:buSzPts val="2050"/>
              <a:buFont typeface="Arial" panose="020B0604020202020204" pitchFamily="34" charset="0"/>
              <a:buChar char="•"/>
            </a:pPr>
            <a:r>
              <a:rPr lang="en-US" sz="2800" baseline="300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Plasmids are present as single or multiple copies within the bacterium. </a:t>
            </a:r>
          </a:p>
          <a:p>
            <a:pPr marL="342900" marR="30480" lvl="0" indent="-342900" algn="just">
              <a:lnSpc>
                <a:spcPct val="130000"/>
              </a:lnSpc>
              <a:spcBef>
                <a:spcPts val="0"/>
              </a:spcBef>
              <a:spcAft>
                <a:spcPts val="25"/>
              </a:spcAft>
              <a:buClr>
                <a:srgbClr val="000000"/>
              </a:buClr>
              <a:buSzPts val="2050"/>
              <a:buFont typeface="Arial" panose="020B0604020202020204" pitchFamily="34" charset="0"/>
              <a:buChar char="•"/>
            </a:pPr>
            <a:r>
              <a:rPr lang="en-US" sz="2800" baseline="300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The common plasmid vector has both tetracycline and ampicillin resistance genes. </a:t>
            </a:r>
          </a:p>
        </p:txBody>
      </p:sp>
    </p:spTree>
    <p:extLst>
      <p:ext uri="{BB962C8B-B14F-4D97-AF65-F5344CB8AC3E}">
        <p14:creationId xmlns:p14="http://schemas.microsoft.com/office/powerpoint/2010/main" xmlns="" val="150315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4399" y="675168"/>
            <a:ext cx="9539785" cy="5889689"/>
          </a:xfrm>
          <a:prstGeom prst="rect">
            <a:avLst/>
          </a:prstGeom>
        </p:spPr>
        <p:txBody>
          <a:bodyPr wrap="square">
            <a:spAutoFit/>
          </a:bodyPr>
          <a:lstStyle/>
          <a:p>
            <a:pPr marL="102235" marR="0" indent="-6350">
              <a:lnSpc>
                <a:spcPct val="107000"/>
              </a:lnSpc>
              <a:spcBef>
                <a:spcPts val="0"/>
              </a:spcBef>
              <a:spcAft>
                <a:spcPts val="225"/>
              </a:spcAft>
            </a:pPr>
            <a:r>
              <a:rPr lang="en-US" sz="2400" b="1" dirty="0" smtClean="0">
                <a:solidFill>
                  <a:srgbClr val="000000"/>
                </a:solidFill>
                <a:effectLst/>
                <a:latin typeface="Times New Roman" panose="02020603050405020304" pitchFamily="18" charset="0"/>
                <a:ea typeface="Times New Roman" panose="02020603050405020304" pitchFamily="18" charset="0"/>
              </a:rPr>
              <a:t>Impact of molecular biology on genetic diseases </a:t>
            </a:r>
          </a:p>
          <a:p>
            <a:pPr marL="95885" marR="30480" indent="254635" algn="just">
              <a:lnSpc>
                <a:spcPct val="130000"/>
              </a:lnSpc>
              <a:spcBef>
                <a:spcPts val="0"/>
              </a:spcBef>
              <a:spcAft>
                <a:spcPts val="185"/>
              </a:spcAft>
            </a:pPr>
            <a:r>
              <a:rPr lang="en-US" sz="2400" dirty="0" smtClean="0">
                <a:solidFill>
                  <a:srgbClr val="000000"/>
                </a:solidFill>
                <a:effectLst/>
                <a:latin typeface="Times New Roman" panose="02020603050405020304" pitchFamily="18" charset="0"/>
                <a:ea typeface="Times New Roman" panose="02020603050405020304" pitchFamily="18" charset="0"/>
              </a:rPr>
              <a:t>Once a gene has been fully characterized, abnormalities leading to diseases associated with it can be identified at the level of both the DNA sequences and the protein which it encodes. This often leads to an improved understanding of the disease process, and can allow detection of the abnormal gene in DNA samples from patients who: (</a:t>
            </a:r>
            <a:r>
              <a:rPr lang="en-US" sz="2400" dirty="0" err="1" smtClean="0">
                <a:solidFill>
                  <a:srgbClr val="000000"/>
                </a:solidFill>
                <a:effectLst/>
                <a:latin typeface="Times New Roman" panose="02020603050405020304" pitchFamily="18" charset="0"/>
                <a:ea typeface="Times New Roman" panose="02020603050405020304" pitchFamily="18" charset="0"/>
              </a:rPr>
              <a:t>i</a:t>
            </a:r>
            <a:r>
              <a:rPr lang="en-US" sz="2400" dirty="0" smtClean="0">
                <a:solidFill>
                  <a:srgbClr val="000000"/>
                </a:solidFill>
                <a:effectLst/>
                <a:latin typeface="Times New Roman" panose="02020603050405020304" pitchFamily="18" charset="0"/>
                <a:ea typeface="Times New Roman" panose="02020603050405020304" pitchFamily="18" charset="0"/>
              </a:rPr>
              <a:t>) have or are susceptible to the disease; (ii) are carriers; and (iii) the unborn fetus. </a:t>
            </a:r>
          </a:p>
          <a:p>
            <a:pPr marL="105410">
              <a:lnSpc>
                <a:spcPct val="107000"/>
              </a:lnSpc>
              <a:spcAft>
                <a:spcPts val="380"/>
              </a:spcAft>
            </a:pPr>
            <a:r>
              <a:rPr lang="en-US" sz="2400" b="1" dirty="0" smtClean="0">
                <a:solidFill>
                  <a:srgbClr val="000000"/>
                </a:solidFill>
                <a:effectLst/>
                <a:latin typeface="Times New Roman" panose="02020603050405020304" pitchFamily="18" charset="0"/>
                <a:ea typeface="Times New Roman" panose="02020603050405020304" pitchFamily="18" charset="0"/>
              </a:rPr>
              <a:t> </a:t>
            </a:r>
            <a:endParaRPr lang="en-US" sz="2400" dirty="0" smtClean="0">
              <a:solidFill>
                <a:srgbClr val="000000"/>
              </a:solidFill>
              <a:effectLst/>
              <a:latin typeface="Times New Roman" panose="02020603050405020304" pitchFamily="18" charset="0"/>
              <a:ea typeface="Times New Roman" panose="02020603050405020304" pitchFamily="18" charset="0"/>
            </a:endParaRPr>
          </a:p>
          <a:p>
            <a:pPr marL="102235" marR="55245" indent="-6350">
              <a:lnSpc>
                <a:spcPct val="107000"/>
              </a:lnSpc>
              <a:spcBef>
                <a:spcPts val="0"/>
              </a:spcBef>
              <a:spcAft>
                <a:spcPts val="175"/>
              </a:spcAft>
            </a:pPr>
            <a:r>
              <a:rPr lang="en-US" sz="2400" b="1" dirty="0" smtClean="0">
                <a:solidFill>
                  <a:srgbClr val="000000"/>
                </a:solidFill>
                <a:effectLst/>
                <a:latin typeface="Times New Roman" panose="02020603050405020304" pitchFamily="18" charset="0"/>
                <a:ea typeface="Times New Roman" panose="02020603050405020304" pitchFamily="18" charset="0"/>
              </a:rPr>
              <a:t>Genomic Library </a:t>
            </a:r>
            <a:r>
              <a:rPr lang="en-US" sz="2400" b="0" dirty="0" smtClean="0">
                <a:solidFill>
                  <a:srgbClr val="000000"/>
                </a:solidFill>
                <a:effectLst/>
                <a:latin typeface="Times New Roman" panose="02020603050405020304" pitchFamily="18" charset="0"/>
                <a:ea typeface="Times New Roman" panose="02020603050405020304" pitchFamily="18" charset="0"/>
              </a:rPr>
              <a:t> </a:t>
            </a:r>
            <a:endParaRPr lang="en-US" sz="2400" b="1" dirty="0" smtClean="0">
              <a:solidFill>
                <a:srgbClr val="000000"/>
              </a:solidFill>
              <a:effectLst/>
              <a:latin typeface="Times New Roman" panose="02020603050405020304" pitchFamily="18" charset="0"/>
              <a:ea typeface="Times New Roman" panose="02020603050405020304" pitchFamily="18" charset="0"/>
            </a:endParaRPr>
          </a:p>
          <a:p>
            <a:pPr>
              <a:lnSpc>
                <a:spcPct val="150000"/>
              </a:lnSpc>
            </a:pPr>
            <a:r>
              <a:rPr lang="en-US" sz="2400" dirty="0" smtClean="0">
                <a:solidFill>
                  <a:srgbClr val="000000"/>
                </a:solidFill>
                <a:effectLst/>
                <a:latin typeface="Times New Roman" panose="02020603050405020304" pitchFamily="18" charset="0"/>
                <a:ea typeface="Times New Roman" panose="02020603050405020304" pitchFamily="18" charset="0"/>
              </a:rPr>
              <a:t>When the entire genome of an organism is digested by restriction enzymes and each of the DNA fragments obtained is cloned into a cloning vector, such a set of cloned fragments is known as the genomic library. </a:t>
            </a:r>
            <a:endParaRPr lang="en-US" sz="2400" dirty="0"/>
          </a:p>
        </p:txBody>
      </p:sp>
    </p:spTree>
    <p:extLst>
      <p:ext uri="{BB962C8B-B14F-4D97-AF65-F5344CB8AC3E}">
        <p14:creationId xmlns:p14="http://schemas.microsoft.com/office/powerpoint/2010/main" xmlns="" val="3052256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4" name="Picture 3" descr="00c0e73771d186ec575b83ca85f53484.gif"/>
          <p:cNvPicPr>
            <a:picLocks noChangeAspect="1"/>
          </p:cNvPicPr>
          <p:nvPr/>
        </p:nvPicPr>
        <p:blipFill>
          <a:blip r:embed="rId2"/>
          <a:stretch>
            <a:fillRect/>
          </a:stretch>
        </p:blipFill>
        <p:spPr>
          <a:xfrm>
            <a:off x="1978925" y="573206"/>
            <a:ext cx="8488908" cy="4979869"/>
          </a:xfrm>
          <a:prstGeom prst="rect">
            <a:avLst/>
          </a:prstGeom>
        </p:spPr>
      </p:pic>
    </p:spTree>
    <p:extLst>
      <p:ext uri="{BB962C8B-B14F-4D97-AF65-F5344CB8AC3E}">
        <p14:creationId xmlns:p14="http://schemas.microsoft.com/office/powerpoint/2010/main" xmlns="" val="20725746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8229600" cy="1143000"/>
          </a:xfrm>
        </p:spPr>
        <p:txBody>
          <a:bodyPr>
            <a:normAutofit/>
          </a:bodyPr>
          <a:lstStyle/>
          <a:p>
            <a:r>
              <a:rPr lang="en-US" sz="6000" b="1" dirty="0"/>
              <a:t>Mitosis</a:t>
            </a:r>
          </a:p>
        </p:txBody>
      </p:sp>
      <p:pic>
        <p:nvPicPr>
          <p:cNvPr id="4" name="Content Placeholder 3" descr="15085342-cell-division-mitosis-scheme.jpg"/>
          <p:cNvPicPr>
            <a:picLocks noGrp="1" noChangeAspect="1"/>
          </p:cNvPicPr>
          <p:nvPr>
            <p:ph idx="1"/>
          </p:nvPr>
        </p:nvPicPr>
        <p:blipFill>
          <a:blip r:embed="rId2"/>
          <a:stretch>
            <a:fillRect/>
          </a:stretch>
        </p:blipFill>
        <p:spPr>
          <a:xfrm>
            <a:off x="2166911" y="1142984"/>
            <a:ext cx="7710665" cy="5715016"/>
          </a:xfrm>
        </p:spPr>
      </p:pic>
    </p:spTree>
    <p:extLst>
      <p:ext uri="{BB962C8B-B14F-4D97-AF65-F5344CB8AC3E}">
        <p14:creationId xmlns:p14="http://schemas.microsoft.com/office/powerpoint/2010/main" xmlns="" val="6736077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sign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dule">
      <a:majorFont>
        <a:latin typeface="Corbel"/>
        <a:ea typeface=""/>
        <a:cs typeface=""/>
        <a:font script="Jpan" typeface="HGｺﾞｼｯｸM"/>
        <a:font script="Hang" typeface="HY엽서L"/>
        <a:font script="Hans" typeface="楷体_GB2312"/>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楷体_GB2312"/>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Effects">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tint val="100000"/>
                <a:shade val="50000"/>
                <a:satMod val="145000"/>
              </a:schemeClr>
            </a:gs>
            <a:gs pos="40000">
              <a:schemeClr val="phClr">
                <a:tint val="100000"/>
                <a:shade val="70000"/>
                <a:satMod val="145000"/>
              </a:schemeClr>
            </a:gs>
            <a:gs pos="100000">
              <a:schemeClr val="phClr">
                <a:tint val="85000"/>
                <a:shade val="100000"/>
                <a:satMod val="155000"/>
              </a:schemeClr>
            </a:gs>
          </a:gsLst>
          <a:lin ang="16200000" scaled="1"/>
        </a:gradFill>
        <a:gradFill rotWithShape="1">
          <a:gsLst>
            <a:gs pos="0">
              <a:schemeClr val="phClr">
                <a:tint val="100000"/>
                <a:shade val="50000"/>
                <a:satMod val="145000"/>
              </a:schemeClr>
            </a:gs>
            <a:gs pos="30000">
              <a:schemeClr val="phClr">
                <a:tint val="100000"/>
                <a:shade val="65000"/>
                <a:satMod val="155000"/>
              </a:schemeClr>
            </a:gs>
            <a:gs pos="100000">
              <a:schemeClr val="phClr">
                <a:tint val="60000"/>
                <a:shade val="100000"/>
                <a:satMod val="170000"/>
              </a:schemeClr>
            </a:gs>
          </a:gsLst>
          <a:lin ang="16200000" scaled="1"/>
        </a:gradFill>
      </a:bgFillStyleLst>
    </a:fmtScheme>
  </a:themeElements>
  <a:objectDefaults/>
  <a:extraClrSchemeLst/>
</a:theme>
</file>

<file path=ppt/theme/theme4.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243AF7DC-D15B-41C0-AE81-23980D1B9FC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886</Words>
  <Application>Microsoft Office PowerPoint</Application>
  <PresentationFormat>Custom</PresentationFormat>
  <Paragraphs>65</Paragraphs>
  <Slides>14</Slides>
  <Notes>1</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Office Theme</vt:lpstr>
      <vt:lpstr>1_Office Theme</vt:lpstr>
      <vt:lpstr>DesignTemplate</vt:lpstr>
      <vt:lpstr>Retrospect</vt:lpstr>
      <vt:lpstr>Slide 1</vt:lpstr>
      <vt:lpstr>Scores</vt:lpstr>
      <vt:lpstr>Definition  </vt:lpstr>
      <vt:lpstr>Process of gene cloning</vt:lpstr>
      <vt:lpstr>Process of gene cloning</vt:lpstr>
      <vt:lpstr>Slide 6</vt:lpstr>
      <vt:lpstr>Genetic engineering</vt:lpstr>
      <vt:lpstr>Slide 8</vt:lpstr>
      <vt:lpstr>Steps involved in gene cloning </vt:lpstr>
      <vt:lpstr>Applications of Recombinant DNA Technology</vt:lpstr>
      <vt:lpstr>Slide 11</vt:lpstr>
      <vt:lpstr>Slide 12</vt:lpstr>
      <vt:lpstr>Slide 13</vt:lpstr>
      <vt:lpstr>Mitosis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Toshiba</dc:creator>
  <cp:lastModifiedBy>modarag</cp:lastModifiedBy>
  <cp:revision>16</cp:revision>
  <dcterms:created xsi:type="dcterms:W3CDTF">2019-09-28T15:37:34Z</dcterms:created>
  <dcterms:modified xsi:type="dcterms:W3CDTF">2004-01-01T00:25:08Z</dcterms:modified>
</cp:coreProperties>
</file>